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BE38A7-5416-47D7-9F6B-B8FAA47C52C5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A911DE-7114-4834-AEB4-3998FFC8D9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0920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6a8c0cccd4_0_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g36a8c0cccd4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69a90ebf2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g369a90ebf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65c7b79fd1_2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g365c7b79fd1_2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65e1aa2965_0_2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g365e1aa2965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6a8c0cccd4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9" name="Google Shape;529;g36a8c0cccd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Diapositiva de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8" name="Google Shape;28;p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30" name="Google Shape;30;p2"/>
          <p:cNvSpPr txBox="1"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"/>
          <p:cNvSpPr txBox="1"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rgbClr val="EE52A4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dt" idx="10"/>
          </p:nvPr>
        </p:nvSpPr>
        <p:spPr>
          <a:xfrm rot="5400000">
            <a:off x="10158984" y="1792224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"/>
          <p:cNvSpPr txBox="1">
            <a:spLocks noGrp="1"/>
          </p:cNvSpPr>
          <p:nvPr>
            <p:ph type="ftr" idx="11"/>
          </p:nvPr>
        </p:nvSpPr>
        <p:spPr>
          <a:xfrm rot="5400000">
            <a:off x="8951976" y="3227832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1202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Contenido con título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8" name="Google Shape;38;p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 rot="-5677511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 rot="-54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47" name="Google Shape;47;p3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48" name="Google Shape;48;p3"/>
          <p:cNvSpPr txBox="1"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"/>
          <p:cNvSpPr txBox="1">
            <a:spLocks noGrp="1"/>
          </p:cNvSpPr>
          <p:nvPr>
            <p:ph type="body" idx="1"/>
          </p:nvPr>
        </p:nvSpPr>
        <p:spPr>
          <a:xfrm>
            <a:off x="5781146" y="1447800"/>
            <a:ext cx="5190066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0" name="Google Shape;50;p3"/>
          <p:cNvSpPr txBox="1">
            <a:spLocks noGrp="1"/>
          </p:cNvSpPr>
          <p:nvPr>
            <p:ph type="body" idx="2"/>
          </p:nvPr>
        </p:nvSpPr>
        <p:spPr>
          <a:xfrm>
            <a:off x="1154954" y="3129280"/>
            <a:ext cx="2793158" cy="2895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51" name="Google Shape;51;p3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7806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En blanc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1741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Imagen con título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2" name="Google Shape;62;p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 rot="-5677511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 rot="-54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71" name="Google Shape;71;p5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72" name="Google Shape;72;p5"/>
          <p:cNvSpPr txBox="1"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"/>
          <p:cNvSpPr>
            <a:spLocks noGrp="1"/>
          </p:cNvSpPr>
          <p:nvPr>
            <p:ph type="pic" idx="2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74" name="Google Shape;74;p5"/>
          <p:cNvSpPr txBox="1">
            <a:spLocks noGrp="1"/>
          </p:cNvSpPr>
          <p:nvPr>
            <p:ph type="body" idx="1"/>
          </p:nvPr>
        </p:nvSpPr>
        <p:spPr>
          <a:xfrm>
            <a:off x="1154954" y="3657600"/>
            <a:ext cx="38592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2963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6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82" name="Google Shape;82;p6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3901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Encabezado de sec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7" name="Google Shape;87;p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7"/>
            <p:cNvSpPr/>
            <p:nvPr/>
          </p:nvSpPr>
          <p:spPr>
            <a:xfrm rot="-54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95" name="Google Shape;95;p7"/>
            <p:cNvSpPr/>
            <p:nvPr/>
          </p:nvSpPr>
          <p:spPr>
            <a:xfrm rot="-5677511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97" name="Google Shape;97;p7"/>
          <p:cNvSpPr txBox="1"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7"/>
          <p:cNvSpPr txBox="1"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7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7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7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580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8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4825158" cy="3416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06" name="Google Shape;106;p8"/>
          <p:cNvSpPr txBox="1">
            <a:spLocks noGrp="1"/>
          </p:cNvSpPr>
          <p:nvPr>
            <p:ph type="body" idx="2"/>
          </p:nvPr>
        </p:nvSpPr>
        <p:spPr>
          <a:xfrm>
            <a:off x="6208712" y="2603500"/>
            <a:ext cx="4825159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07" name="Google Shape;107;p8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8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8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8078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9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13" name="Google Shape;113;p9"/>
          <p:cNvSpPr txBox="1">
            <a:spLocks noGrp="1"/>
          </p:cNvSpPr>
          <p:nvPr>
            <p:ph type="body" idx="2"/>
          </p:nvPr>
        </p:nvSpPr>
        <p:spPr>
          <a:xfrm>
            <a:off x="1154954" y="3179762"/>
            <a:ext cx="4825158" cy="284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4" name="Google Shape;114;p9"/>
          <p:cNvSpPr txBox="1">
            <a:spLocks noGrp="1"/>
          </p:cNvSpPr>
          <p:nvPr>
            <p:ph type="body" idx="3"/>
          </p:nvPr>
        </p:nvSpPr>
        <p:spPr>
          <a:xfrm>
            <a:off x="6208712" y="2603500"/>
            <a:ext cx="4825159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15" name="Google Shape;115;p9"/>
          <p:cNvSpPr txBox="1">
            <a:spLocks noGrp="1"/>
          </p:cNvSpPr>
          <p:nvPr>
            <p:ph type="body" idx="4"/>
          </p:nvPr>
        </p:nvSpPr>
        <p:spPr>
          <a:xfrm>
            <a:off x="6208712" y="3179762"/>
            <a:ext cx="4825159" cy="284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marL="914400" lvl="1" indent="-30988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marL="1371600" lvl="2" indent="-299719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marL="1828800" lvl="3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marL="2286000" lvl="4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marL="2743200" lvl="5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marL="3200400" lvl="6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marL="3657600" lvl="7" indent="-289559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marL="4114800" lvl="8" indent="-289559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>
            <a:endParaRPr/>
          </a:p>
        </p:txBody>
      </p:sp>
      <p:sp>
        <p:nvSpPr>
          <p:cNvPr id="116" name="Google Shape;116;p9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9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9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1262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Solo el título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0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0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0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8056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panorámica con descripción">
  <p:cSld name="Imagen panorámica con descripció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6" name="Google Shape;126;p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1"/>
            <p:cNvSpPr/>
            <p:nvPr/>
          </p:nvSpPr>
          <p:spPr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1"/>
            <p:cNvSpPr/>
            <p:nvPr/>
          </p:nvSpPr>
          <p:spPr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34" name="Google Shape;134;p11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35" name="Google Shape;135;p11"/>
          <p:cNvSpPr txBox="1"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1"/>
          <p:cNvSpPr>
            <a:spLocks noGrp="1"/>
          </p:cNvSpPr>
          <p:nvPr>
            <p:ph type="pic" idx="2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37" name="Google Shape;137;p11"/>
          <p:cNvSpPr txBox="1">
            <a:spLocks noGrp="1"/>
          </p:cNvSpPr>
          <p:nvPr>
            <p:ph type="body" idx="1"/>
          </p:nvPr>
        </p:nvSpPr>
        <p:spPr>
          <a:xfrm>
            <a:off x="1154954" y="5536665"/>
            <a:ext cx="8825658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38" name="Google Shape;138;p11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1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1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0705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descripción">
  <p:cSld name="Título y descripción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1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4" name="Google Shape;144;p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2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2"/>
            <p:cNvSpPr/>
            <p:nvPr/>
          </p:nvSpPr>
          <p:spPr>
            <a:xfrm rot="-589932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2"/>
            <p:cNvSpPr/>
            <p:nvPr/>
          </p:nvSpPr>
          <p:spPr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 extrusionOk="0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52" name="Google Shape;152;p12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53" name="Google Shape;153;p12"/>
          <p:cNvSpPr txBox="1"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2"/>
          <p:cNvSpPr txBox="1">
            <a:spLocks noGrp="1"/>
          </p:cNvSpPr>
          <p:nvPr>
            <p:ph type="body" idx="1"/>
          </p:nvPr>
        </p:nvSpPr>
        <p:spPr>
          <a:xfrm>
            <a:off x="1154954" y="3543300"/>
            <a:ext cx="8825659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55" name="Google Shape;155;p12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2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2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5891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ita con descripción">
  <p:cSld name="Cita con descripción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1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1" name="Google Shape;161;p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3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3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3"/>
            <p:cNvSpPr/>
            <p:nvPr/>
          </p:nvSpPr>
          <p:spPr>
            <a:xfrm rot="-589932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3"/>
            <p:cNvSpPr/>
            <p:nvPr/>
          </p:nvSpPr>
          <p:spPr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69" name="Google Shape;169;p13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70" name="Google Shape;170;p13"/>
          <p:cNvSpPr txBox="1"/>
          <p:nvPr/>
        </p:nvSpPr>
        <p:spPr>
          <a:xfrm>
            <a:off x="881566" y="607336"/>
            <a:ext cx="801912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600" b="0" i="0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71" name="Google Shape;171;p13"/>
          <p:cNvSpPr txBox="1"/>
          <p:nvPr/>
        </p:nvSpPr>
        <p:spPr>
          <a:xfrm>
            <a:off x="9884458" y="2613787"/>
            <a:ext cx="652763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600" b="0" i="0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72" name="Google Shape;172;p13"/>
          <p:cNvSpPr txBox="1"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body" idx="1"/>
          </p:nvPr>
        </p:nvSpPr>
        <p:spPr>
          <a:xfrm>
            <a:off x="1945945" y="3678766"/>
            <a:ext cx="7731219" cy="342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 b="0" i="0" cap="small">
                <a:solidFill>
                  <a:srgbClr val="EE52A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body" idx="2"/>
          </p:nvPr>
        </p:nvSpPr>
        <p:spPr>
          <a:xfrm>
            <a:off x="1154954" y="5029199"/>
            <a:ext cx="9244897" cy="997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3819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arjeta de nombre">
  <p:cSld name="Tarjeta de nombre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1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81" name="Google Shape;181;p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89932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89" name="Google Shape;189;p14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90" name="Google Shape;190;p14"/>
          <p:cNvSpPr txBox="1"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4"/>
          <p:cNvSpPr txBox="1"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14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4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02938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a 3">
  <p:cSld name="Columna 3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5"/>
          <p:cNvSpPr txBox="1"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99" name="Google Shape;199;p15"/>
          <p:cNvSpPr txBox="1">
            <a:spLocks noGrp="1"/>
          </p:cNvSpPr>
          <p:nvPr>
            <p:ph type="body" idx="2"/>
          </p:nvPr>
        </p:nvSpPr>
        <p:spPr>
          <a:xfrm>
            <a:off x="1154953" y="3179764"/>
            <a:ext cx="3141879" cy="2847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00" name="Google Shape;200;p15"/>
          <p:cNvSpPr txBox="1">
            <a:spLocks noGrp="1"/>
          </p:cNvSpPr>
          <p:nvPr>
            <p:ph type="body" idx="3"/>
          </p:nvPr>
        </p:nvSpPr>
        <p:spPr>
          <a:xfrm>
            <a:off x="4512721" y="2603500"/>
            <a:ext cx="3147009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01" name="Google Shape;201;p15"/>
          <p:cNvSpPr txBox="1">
            <a:spLocks noGrp="1"/>
          </p:cNvSpPr>
          <p:nvPr>
            <p:ph type="body" idx="4"/>
          </p:nvPr>
        </p:nvSpPr>
        <p:spPr>
          <a:xfrm>
            <a:off x="4512721" y="3179763"/>
            <a:ext cx="3147009" cy="2847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02" name="Google Shape;202;p15"/>
          <p:cNvSpPr txBox="1">
            <a:spLocks noGrp="1"/>
          </p:cNvSpPr>
          <p:nvPr>
            <p:ph type="body" idx="5"/>
          </p:nvPr>
        </p:nvSpPr>
        <p:spPr>
          <a:xfrm>
            <a:off x="7888135" y="2603501"/>
            <a:ext cx="314573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03" name="Google Shape;203;p15"/>
          <p:cNvSpPr txBox="1">
            <a:spLocks noGrp="1"/>
          </p:cNvSpPr>
          <p:nvPr>
            <p:ph type="body" idx="6"/>
          </p:nvPr>
        </p:nvSpPr>
        <p:spPr>
          <a:xfrm>
            <a:off x="7888329" y="3179762"/>
            <a:ext cx="3145536" cy="2847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cxnSp>
        <p:nvCxnSpPr>
          <p:cNvPr id="204" name="Google Shape;204;p15"/>
          <p:cNvCxnSpPr/>
          <p:nvPr/>
        </p:nvCxnSpPr>
        <p:spPr>
          <a:xfrm>
            <a:off x="4403971" y="2569633"/>
            <a:ext cx="0" cy="3492499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5" name="Google Shape;205;p15"/>
          <p:cNvCxnSpPr/>
          <p:nvPr/>
        </p:nvCxnSpPr>
        <p:spPr>
          <a:xfrm>
            <a:off x="7772401" y="2569633"/>
            <a:ext cx="0" cy="3492499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6" name="Google Shape;206;p15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5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5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7031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a de imagen 3">
  <p:cSld name="Columna de imagen 3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12" name="Google Shape;212;p16"/>
          <p:cNvSpPr>
            <a:spLocks noGrp="1"/>
          </p:cNvSpPr>
          <p:nvPr>
            <p:ph type="pic" idx="2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213" name="Google Shape;213;p16"/>
          <p:cNvSpPr txBox="1">
            <a:spLocks noGrp="1"/>
          </p:cNvSpPr>
          <p:nvPr>
            <p:ph type="body" idx="3"/>
          </p:nvPr>
        </p:nvSpPr>
        <p:spPr>
          <a:xfrm>
            <a:off x="1154954" y="5109106"/>
            <a:ext cx="3050438" cy="91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body" idx="4"/>
          </p:nvPr>
        </p:nvSpPr>
        <p:spPr>
          <a:xfrm>
            <a:off x="4568865" y="4532844"/>
            <a:ext cx="3050438" cy="5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15" name="Google Shape;215;p16"/>
          <p:cNvSpPr>
            <a:spLocks noGrp="1"/>
          </p:cNvSpPr>
          <p:nvPr>
            <p:ph type="pic" idx="5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216" name="Google Shape;216;p16"/>
          <p:cNvSpPr txBox="1">
            <a:spLocks noGrp="1"/>
          </p:cNvSpPr>
          <p:nvPr>
            <p:ph type="body" idx="6"/>
          </p:nvPr>
        </p:nvSpPr>
        <p:spPr>
          <a:xfrm>
            <a:off x="4570172" y="5109105"/>
            <a:ext cx="3050438" cy="91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17" name="Google Shape;217;p16"/>
          <p:cNvSpPr txBox="1">
            <a:spLocks noGrp="1"/>
          </p:cNvSpPr>
          <p:nvPr>
            <p:ph type="body" idx="7"/>
          </p:nvPr>
        </p:nvSpPr>
        <p:spPr>
          <a:xfrm>
            <a:off x="7982775" y="4532845"/>
            <a:ext cx="305109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18" name="Google Shape;218;p16"/>
          <p:cNvSpPr>
            <a:spLocks noGrp="1"/>
          </p:cNvSpPr>
          <p:nvPr>
            <p:ph type="pic" idx="8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219" name="Google Shape;219;p16"/>
          <p:cNvSpPr txBox="1">
            <a:spLocks noGrp="1"/>
          </p:cNvSpPr>
          <p:nvPr>
            <p:ph type="body" idx="9"/>
          </p:nvPr>
        </p:nvSpPr>
        <p:spPr>
          <a:xfrm>
            <a:off x="7982775" y="5109104"/>
            <a:ext cx="3051096" cy="91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cxnSp>
        <p:nvCxnSpPr>
          <p:cNvPr id="220" name="Google Shape;220;p16"/>
          <p:cNvCxnSpPr/>
          <p:nvPr/>
        </p:nvCxnSpPr>
        <p:spPr>
          <a:xfrm>
            <a:off x="4405831" y="2569633"/>
            <a:ext cx="0" cy="3492499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1" name="Google Shape;221;p16"/>
          <p:cNvCxnSpPr/>
          <p:nvPr/>
        </p:nvCxnSpPr>
        <p:spPr>
          <a:xfrm>
            <a:off x="7797802" y="2569633"/>
            <a:ext cx="0" cy="3492499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2" name="Google Shape;222;p16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6"/>
          <p:cNvSpPr txBox="1">
            <a:spLocks noGrp="1"/>
          </p:cNvSpPr>
          <p:nvPr>
            <p:ph type="ftr" idx="11"/>
          </p:nvPr>
        </p:nvSpPr>
        <p:spPr>
          <a:xfrm>
            <a:off x="561111" y="6391838"/>
            <a:ext cx="3644282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16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0717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7"/>
          <p:cNvSpPr txBox="1">
            <a:spLocks noGrp="1"/>
          </p:cNvSpPr>
          <p:nvPr>
            <p:ph type="body" idx="1"/>
          </p:nvPr>
        </p:nvSpPr>
        <p:spPr>
          <a:xfrm rot="5400000">
            <a:off x="3859634" y="-101179"/>
            <a:ext cx="3416300" cy="8825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28" name="Google Shape;228;p17"/>
          <p:cNvSpPr txBox="1">
            <a:spLocks noGrp="1"/>
          </p:cNvSpPr>
          <p:nvPr>
            <p:ph type="dt" idx="10"/>
          </p:nvPr>
        </p:nvSpPr>
        <p:spPr>
          <a:xfrm>
            <a:off x="10695439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7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17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3030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Título vertical y texto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1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3" name="Google Shape;233;p1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8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8"/>
            <p:cNvSpPr/>
            <p:nvPr/>
          </p:nvSpPr>
          <p:spPr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8"/>
            <p:cNvSpPr/>
            <p:nvPr/>
          </p:nvSpPr>
          <p:spPr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42" name="Google Shape;242;p18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243" name="Google Shape;243;p18"/>
          <p:cNvSpPr txBox="1">
            <a:spLocks noGrp="1"/>
          </p:cNvSpPr>
          <p:nvPr>
            <p:ph type="title"/>
          </p:nvPr>
        </p:nvSpPr>
        <p:spPr>
          <a:xfrm rot="5400000">
            <a:off x="6915923" y="2947780"/>
            <a:ext cx="4748590" cy="1409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18"/>
          <p:cNvSpPr txBox="1">
            <a:spLocks noGrp="1"/>
          </p:cNvSpPr>
          <p:nvPr>
            <p:ph type="body" idx="1"/>
          </p:nvPr>
        </p:nvSpPr>
        <p:spPr>
          <a:xfrm rot="5400000">
            <a:off x="1908672" y="524749"/>
            <a:ext cx="4748590" cy="625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2135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8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0850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Google Shape;11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1"/>
            <p:cNvSpPr/>
            <p:nvPr/>
          </p:nvSpPr>
          <p:spPr>
            <a:xfrm rot="-589932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20" name="Google Shape;20;p1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1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2" name="Google Shape;22;p1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3" name="Google Shape;23;p1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085531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design-toolkit.recursos.uoc.edu/es/mapa-de-empatia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" name="Google Shape;498;p38"/>
          <p:cNvGrpSpPr/>
          <p:nvPr/>
        </p:nvGrpSpPr>
        <p:grpSpPr>
          <a:xfrm>
            <a:off x="0" y="0"/>
            <a:ext cx="12192011" cy="6858000"/>
            <a:chOff x="0" y="0"/>
            <a:chExt cx="12192011" cy="6858000"/>
          </a:xfrm>
        </p:grpSpPr>
        <p:sp>
          <p:nvSpPr>
            <p:cNvPr id="499" name="Google Shape;499;p3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entury Gothic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0" name="Google Shape;500;p38"/>
            <p:cNvSpPr/>
            <p:nvPr/>
          </p:nvSpPr>
          <p:spPr>
            <a:xfrm>
              <a:off x="0" y="1587"/>
              <a:ext cx="12192011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id="501" name="Google Shape;501;p38"/>
          <p:cNvPicPr preferRelativeResize="0"/>
          <p:nvPr/>
        </p:nvPicPr>
        <p:blipFill rotWithShape="1">
          <a:blip r:embed="rId4">
            <a:alphaModFix amt="25000"/>
          </a:blip>
          <a:srcRect t="27064" r="9090" b="1882"/>
          <a:stretch/>
        </p:blipFill>
        <p:spPr>
          <a:xfrm>
            <a:off x="474133" y="475488"/>
            <a:ext cx="11243735" cy="5909732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3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1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5">
            <a:alphaModFix/>
          </a:blip>
          <a:srcRect r="73736"/>
          <a:stretch/>
        </p:blipFill>
        <p:spPr>
          <a:xfrm>
            <a:off x="10437812" y="497125"/>
            <a:ext cx="625451" cy="645875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>
            <a:spLocks noGrp="1"/>
          </p:cNvSpPr>
          <p:nvPr>
            <p:ph type="ctrTitle"/>
          </p:nvPr>
        </p:nvSpPr>
        <p:spPr>
          <a:xfrm>
            <a:off x="1682404" y="2091621"/>
            <a:ext cx="8827200" cy="26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entury Gothic"/>
              <a:buNone/>
            </a:pPr>
            <a:r>
              <a:rPr lang="es-CL" b="1" dirty="0">
                <a:solidFill>
                  <a:schemeClr val="lt1"/>
                </a:solidFill>
              </a:rPr>
              <a:t>MAPA DE EMPATÍA</a:t>
            </a:r>
            <a:endParaRPr b="1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9"/>
          <p:cNvSpPr txBox="1">
            <a:spLocks noGrp="1"/>
          </p:cNvSpPr>
          <p:nvPr>
            <p:ph type="title"/>
          </p:nvPr>
        </p:nvSpPr>
        <p:spPr>
          <a:xfrm>
            <a:off x="8191725" y="2089000"/>
            <a:ext cx="3371100" cy="14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</a:rPr>
              <a:t>¿Qué es el mapa de empatía?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10" name="Google Shape;510;p39"/>
          <p:cNvPicPr preferRelativeResize="0"/>
          <p:nvPr/>
        </p:nvPicPr>
        <p:blipFill rotWithShape="1">
          <a:blip r:embed="rId3">
            <a:alphaModFix/>
          </a:blip>
          <a:srcRect r="73736"/>
          <a:stretch/>
        </p:blipFill>
        <p:spPr>
          <a:xfrm>
            <a:off x="10458477" y="497125"/>
            <a:ext cx="625451" cy="64587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9"/>
          <p:cNvSpPr txBox="1"/>
          <p:nvPr/>
        </p:nvSpPr>
        <p:spPr>
          <a:xfrm>
            <a:off x="945800" y="1033650"/>
            <a:ext cx="6078000" cy="4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  <a:tabLst/>
              <a:defRPr/>
            </a:pPr>
            <a:r>
              <a:rPr kumimoji="0" lang="es-CL" sz="124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Es una herramienta visual que ayuda a organizar lo que sabemos (o suponemos) sobre las personas usuarias. No reemplaza la investigación, pero sirve para:</a:t>
            </a:r>
            <a:endParaRPr kumimoji="0" sz="124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307340" algn="just" defTabSz="914400" rtl="0" eaLnBrk="1" fontAlgn="auto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40"/>
              <a:buFont typeface="Century Gothic"/>
              <a:buChar char="-"/>
              <a:tabLst/>
              <a:defRPr/>
            </a:pPr>
            <a:r>
              <a:rPr kumimoji="0" lang="es-CL" sz="124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Alinear al equipo sobre las necesidades, metas y frustraciones de las personas usuarias.</a:t>
            </a:r>
            <a:endParaRPr kumimoji="0" sz="124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307340" algn="just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"/>
              <a:buFont typeface="Century Gothic"/>
              <a:buChar char="-"/>
              <a:tabLst/>
              <a:defRPr/>
            </a:pPr>
            <a:r>
              <a:rPr kumimoji="0" lang="es-CL" sz="124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Identificar vacíos entre lo que la persona usuaria quiere y lo que se diseña.</a:t>
            </a:r>
            <a:endParaRPr kumimoji="0" sz="124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just" defTabSz="914400" rtl="0" eaLnBrk="1" fontAlgn="auto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  <a:tabLst/>
              <a:defRPr/>
            </a:pPr>
            <a:r>
              <a:rPr kumimoji="0" lang="es-CL" sz="124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¿De dónde salen los datos?</a:t>
            </a:r>
            <a:endParaRPr kumimoji="0" sz="124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just" defTabSz="914400" rtl="0" eaLnBrk="1" fontAlgn="auto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  <a:tabLst/>
              <a:defRPr/>
            </a:pPr>
            <a:r>
              <a:rPr kumimoji="0" lang="es-CL" sz="124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Suposiciones: Si no hay datos reales, se puede empezar con hipótesis (como protopersonas). Es rápido y útil para iniciar, pero luego hay que validarlo.</a:t>
            </a:r>
            <a:endParaRPr kumimoji="0" sz="124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just" defTabSz="914400" rtl="0" eaLnBrk="1" fontAlgn="auto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  <a:tabLst/>
              <a:defRPr/>
            </a:pPr>
            <a:r>
              <a:rPr kumimoji="0" lang="es-CL" sz="124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Datos reales: Si se usa información de investigación (como "personas"), el mapa será más preciso y no necesitará validación.</a:t>
            </a:r>
            <a:endParaRPr kumimoji="0" sz="124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just" defTabSz="914400" rtl="0" eaLnBrk="1" fontAlgn="auto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  <a:tabLst/>
              <a:defRPr/>
            </a:pPr>
            <a:r>
              <a:rPr kumimoji="0" lang="es-CL" sz="124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En resumen: El mapa de empatía es un primer paso para ponerse en los zapatos de la persona usuaria, ya sea con suposiciones o datos concretos.</a:t>
            </a:r>
            <a:endParaRPr kumimoji="0" sz="124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2" name="Google Shape;512;p39"/>
          <p:cNvSpPr txBox="1">
            <a:spLocks noGrp="1"/>
          </p:cNvSpPr>
          <p:nvPr>
            <p:ph type="title"/>
          </p:nvPr>
        </p:nvSpPr>
        <p:spPr>
          <a:xfrm>
            <a:off x="8450025" y="4622650"/>
            <a:ext cx="3112800" cy="14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400" b="1">
                <a:solidFill>
                  <a:schemeClr val="lt1"/>
                </a:solidFill>
              </a:rPr>
              <a:t>¿Quieres saber más de esta herramienta?</a:t>
            </a:r>
            <a:endParaRPr sz="1400" b="1">
              <a:solidFill>
                <a:schemeClr val="l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400">
                <a:solidFill>
                  <a:schemeClr val="lt1"/>
                </a:solidFill>
              </a:rPr>
              <a:t>Revisa el siguiente link: </a:t>
            </a:r>
            <a:r>
              <a:rPr lang="es-CL" sz="1400" u="sng">
                <a:solidFill>
                  <a:schemeClr val="l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https://design-toolkit.recursos.uoc.edu/es/mapa-de-empatia/</a:t>
            </a:r>
            <a:endParaRPr sz="3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6975" y="0"/>
            <a:ext cx="9405015" cy="6553201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40"/>
          <p:cNvSpPr txBox="1">
            <a:spLocks noGrp="1"/>
          </p:cNvSpPr>
          <p:nvPr>
            <p:ph type="body" idx="4294967295"/>
          </p:nvPr>
        </p:nvSpPr>
        <p:spPr>
          <a:xfrm>
            <a:off x="443000" y="573450"/>
            <a:ext cx="1916700" cy="5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300" b="1">
                <a:latin typeface="Avenir"/>
                <a:ea typeface="Avenir"/>
                <a:cs typeface="Avenir"/>
                <a:sym typeface="Avenir"/>
              </a:rPr>
              <a:t>EJEMPLO:</a:t>
            </a:r>
            <a:endParaRPr sz="2300" b="1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300" i="1">
                <a:latin typeface="Avenir"/>
                <a:ea typeface="Avenir"/>
                <a:cs typeface="Avenir"/>
                <a:sym typeface="Avenir"/>
              </a:rPr>
              <a:t>Este es un ejemplo del mapa de empatía donde se revisa el perfil de Daniela, usuaria que tiene discapacidad motora y que busca formas de conectarse con espacios relacionados con la música.</a:t>
            </a:r>
            <a:endParaRPr sz="2300" i="1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300">
                <a:latin typeface="Avenir"/>
                <a:ea typeface="Avenir"/>
                <a:cs typeface="Avenir"/>
                <a:sym typeface="Avenir"/>
              </a:rPr>
              <a:t>Revísenlo en detalle y, en la próxima slide, </a:t>
            </a:r>
            <a:r>
              <a:rPr lang="es-CL" sz="2300" b="1">
                <a:highlight>
                  <a:srgbClr val="E4CAD2"/>
                </a:highlight>
                <a:latin typeface="Avenir"/>
                <a:ea typeface="Avenir"/>
                <a:cs typeface="Avenir"/>
                <a:sym typeface="Avenir"/>
              </a:rPr>
              <a:t>desarrollen su mapa de empatía pensando en sus personas usuarias que buscan convocar como nuevas integrantes para su organización. </a:t>
            </a:r>
            <a:endParaRPr sz="2300" b="1">
              <a:highlight>
                <a:srgbClr val="E4CAD2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1"/>
          <p:cNvSpPr txBox="1">
            <a:spLocks noGrp="1"/>
          </p:cNvSpPr>
          <p:nvPr>
            <p:ph type="title"/>
          </p:nvPr>
        </p:nvSpPr>
        <p:spPr>
          <a:xfrm>
            <a:off x="1212530" y="2628902"/>
            <a:ext cx="27933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venir"/>
              <a:buNone/>
            </a:pPr>
            <a:r>
              <a:rPr lang="es-CL" sz="3700" b="1">
                <a:latin typeface="Avenir"/>
                <a:ea typeface="Avenir"/>
                <a:cs typeface="Avenir"/>
                <a:sym typeface="Avenir"/>
              </a:rPr>
              <a:t>MAPA DE EMPATÍA</a:t>
            </a:r>
            <a:endParaRPr sz="3700" b="1"/>
          </a:p>
        </p:txBody>
      </p:sp>
      <p:sp>
        <p:nvSpPr>
          <p:cNvPr id="524" name="Google Shape;524;p41"/>
          <p:cNvSpPr txBox="1">
            <a:spLocks noGrp="1"/>
          </p:cNvSpPr>
          <p:nvPr>
            <p:ph type="body" idx="1"/>
          </p:nvPr>
        </p:nvSpPr>
        <p:spPr>
          <a:xfrm>
            <a:off x="5284775" y="758025"/>
            <a:ext cx="6545700" cy="5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3894" b="1" u="sng">
                <a:latin typeface="Avenir"/>
                <a:ea typeface="Avenir"/>
                <a:cs typeface="Avenir"/>
                <a:sym typeface="Avenir"/>
              </a:rPr>
              <a:t>INSTRUCCIONES</a:t>
            </a:r>
            <a:endParaRPr sz="3894" b="1" u="sng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300">
                <a:latin typeface="Avenir"/>
                <a:ea typeface="Avenir"/>
                <a:cs typeface="Avenir"/>
                <a:sym typeface="Avenir"/>
              </a:rPr>
              <a:t>A continuación les presentamos el mapa de empatía, para completarlo: 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marL="457200" lvl="0" indent="-308927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venir"/>
              <a:buAutoNum type="arabicPeriod"/>
            </a:pPr>
            <a:r>
              <a:rPr lang="es-CL" sz="2300">
                <a:latin typeface="Avenir"/>
                <a:ea typeface="Avenir"/>
                <a:cs typeface="Avenir"/>
                <a:sym typeface="Avenir"/>
              </a:rPr>
              <a:t>Conversen acerca de las distintas personas que participan en sus convocatorias o las personas que les gustaría que participaran en sus próximas convocatorias.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marL="457200" lvl="0" indent="-30892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venir"/>
              <a:buAutoNum type="arabicPeriod"/>
            </a:pPr>
            <a:r>
              <a:rPr lang="es-CL" sz="2300">
                <a:highlight>
                  <a:srgbClr val="E4CAD2"/>
                </a:highlight>
                <a:latin typeface="Avenir"/>
                <a:ea typeface="Avenir"/>
                <a:cs typeface="Avenir"/>
                <a:sym typeface="Avenir"/>
              </a:rPr>
              <a:t>Seleccionen un perfil de persona ideal </a:t>
            </a:r>
            <a:r>
              <a:rPr lang="es-CL" sz="2300">
                <a:latin typeface="Avenir"/>
                <a:ea typeface="Avenir"/>
                <a:cs typeface="Avenir"/>
                <a:sym typeface="Avenir"/>
              </a:rPr>
              <a:t>para trabajar (ficticio).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marL="457200" lvl="0" indent="-30892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venir"/>
              <a:buAutoNum type="arabicPeriod"/>
            </a:pPr>
            <a:r>
              <a:rPr lang="es-CL" sz="2300">
                <a:latin typeface="Avenir"/>
                <a:ea typeface="Avenir"/>
                <a:cs typeface="Avenir"/>
                <a:sym typeface="Avenir"/>
              </a:rPr>
              <a:t>Desglosen ese perfil de persona en las distintas características que se solicitan comenzando por: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marL="914400" lvl="1" indent="-30892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venir"/>
              <a:buAutoNum type="alphaLcPeriod"/>
            </a:pPr>
            <a:r>
              <a:rPr lang="es-CL" sz="2300">
                <a:latin typeface="Avenir"/>
                <a:ea typeface="Avenir"/>
                <a:cs typeface="Avenir"/>
                <a:sym typeface="Avenir"/>
              </a:rPr>
              <a:t>El círculo en la </a:t>
            </a:r>
            <a:r>
              <a:rPr lang="es-CL" sz="2300">
                <a:highlight>
                  <a:srgbClr val="E4CAD2"/>
                </a:highlight>
                <a:latin typeface="Avenir"/>
                <a:ea typeface="Avenir"/>
                <a:cs typeface="Avenir"/>
                <a:sym typeface="Avenir"/>
              </a:rPr>
              <a:t>parte central del Mapa de Empatía</a:t>
            </a:r>
            <a:r>
              <a:rPr lang="es-CL" sz="2300">
                <a:latin typeface="Avenir"/>
                <a:ea typeface="Avenir"/>
                <a:cs typeface="Avenir"/>
                <a:sym typeface="Avenir"/>
              </a:rPr>
              <a:t>, escribiendo el nombre, foto o dibujo de la persona usuaria, y datos demográficos relevantes (sexo, edad, ocupación, domicilio, etc).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marL="914400" lvl="1" indent="-30892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venir"/>
              <a:buAutoNum type="alphaLcPeriod"/>
            </a:pPr>
            <a:r>
              <a:rPr lang="es-CL" sz="2300">
                <a:latin typeface="Avenir"/>
                <a:ea typeface="Avenir"/>
                <a:cs typeface="Avenir"/>
                <a:sym typeface="Avenir"/>
              </a:rPr>
              <a:t>Continúa por la </a:t>
            </a:r>
            <a:r>
              <a:rPr lang="es-CL" sz="2300">
                <a:highlight>
                  <a:srgbClr val="E4CAD2"/>
                </a:highlight>
                <a:latin typeface="Avenir"/>
                <a:ea typeface="Avenir"/>
                <a:cs typeface="Avenir"/>
                <a:sym typeface="Avenir"/>
              </a:rPr>
              <a:t>sección Dice (citas) y Hace (acciones)</a:t>
            </a:r>
            <a:r>
              <a:rPr lang="es-CL" sz="2300">
                <a:latin typeface="Avenir"/>
                <a:ea typeface="Avenir"/>
                <a:cs typeface="Avenir"/>
                <a:sym typeface="Avenir"/>
              </a:rPr>
              <a:t> de la plantilla.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marL="914400" lvl="1" indent="-30892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venir"/>
              <a:buAutoNum type="alphaLcPeriod"/>
            </a:pPr>
            <a:r>
              <a:rPr lang="es-CL" sz="2300">
                <a:latin typeface="Avenir"/>
                <a:ea typeface="Avenir"/>
                <a:cs typeface="Avenir"/>
                <a:sym typeface="Avenir"/>
              </a:rPr>
              <a:t>Continúa con la </a:t>
            </a:r>
            <a:r>
              <a:rPr lang="es-CL" sz="2300">
                <a:highlight>
                  <a:srgbClr val="E4CAD2"/>
                </a:highlight>
                <a:latin typeface="Avenir"/>
                <a:ea typeface="Avenir"/>
                <a:cs typeface="Avenir"/>
                <a:sym typeface="Avenir"/>
              </a:rPr>
              <a:t>sección Escucha</a:t>
            </a:r>
            <a:r>
              <a:rPr lang="es-CL" sz="2300">
                <a:latin typeface="Avenir"/>
                <a:ea typeface="Avenir"/>
                <a:cs typeface="Avenir"/>
                <a:sym typeface="Avenir"/>
              </a:rPr>
              <a:t>. Al igual que el cuadro anterior, toma nota de todo lo que la persona oye en el contexto que estás analizando.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marL="914400" lvl="1" indent="-30892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venir"/>
              <a:buAutoNum type="alphaLcPeriod"/>
            </a:pPr>
            <a:r>
              <a:rPr lang="es-CL" sz="2300">
                <a:latin typeface="Avenir"/>
                <a:ea typeface="Avenir"/>
                <a:cs typeface="Avenir"/>
                <a:sym typeface="Avenir"/>
              </a:rPr>
              <a:t>En el </a:t>
            </a:r>
            <a:r>
              <a:rPr lang="es-CL" sz="2300">
                <a:highlight>
                  <a:srgbClr val="E4CAD2"/>
                </a:highlight>
                <a:latin typeface="Avenir"/>
                <a:ea typeface="Avenir"/>
                <a:cs typeface="Avenir"/>
                <a:sym typeface="Avenir"/>
              </a:rPr>
              <a:t>bloque Piensa y Siente</a:t>
            </a:r>
            <a:r>
              <a:rPr lang="es-CL" sz="2300">
                <a:latin typeface="Avenir"/>
                <a:ea typeface="Avenir"/>
                <a:cs typeface="Avenir"/>
                <a:sym typeface="Avenir"/>
              </a:rPr>
              <a:t>, resume lo que la persona usuaria piensa durante la experiencia que estás estudiando.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marL="914400" lvl="1" indent="-30892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venir"/>
              <a:buAutoNum type="alphaLcPeriod"/>
            </a:pPr>
            <a:r>
              <a:rPr lang="es-CL" sz="2300">
                <a:latin typeface="Avenir"/>
                <a:ea typeface="Avenir"/>
                <a:cs typeface="Avenir"/>
                <a:sym typeface="Avenir"/>
              </a:rPr>
              <a:t>En la </a:t>
            </a:r>
            <a:r>
              <a:rPr lang="es-CL" sz="2300">
                <a:highlight>
                  <a:srgbClr val="E4CAD2"/>
                </a:highlight>
                <a:latin typeface="Avenir"/>
                <a:ea typeface="Avenir"/>
                <a:cs typeface="Avenir"/>
                <a:sym typeface="Avenir"/>
              </a:rPr>
              <a:t>sección Observa</a:t>
            </a:r>
            <a:r>
              <a:rPr lang="es-CL" sz="2300">
                <a:latin typeface="Avenir"/>
                <a:ea typeface="Avenir"/>
                <a:cs typeface="Avenir"/>
                <a:sym typeface="Avenir"/>
              </a:rPr>
              <a:t>, toma nota de lo que es relevante para la persona en el contexto estudiado.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300">
                <a:latin typeface="Avenir"/>
                <a:ea typeface="Avenir"/>
                <a:cs typeface="Avenir"/>
                <a:sym typeface="Avenir"/>
              </a:rPr>
              <a:t>Una vez completado el circuito del lienzo, es hora de moverse a los cuadros de la sección inferior.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marL="914400" lvl="1" indent="-308927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venir"/>
              <a:buAutoNum type="alphaLcPeriod"/>
            </a:pPr>
            <a:r>
              <a:rPr lang="es-CL" sz="2300">
                <a:latin typeface="Avenir"/>
                <a:ea typeface="Avenir"/>
                <a:cs typeface="Avenir"/>
                <a:sym typeface="Avenir"/>
              </a:rPr>
              <a:t>Divide los pensamientos y sentimientos en dolores (cosas que les preocupan, frustran o enojan) y ganancias (lo que quieren, necesitan o esperan).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300" i="1">
                <a:latin typeface="Avenir"/>
                <a:ea typeface="Avenir"/>
                <a:cs typeface="Avenir"/>
                <a:sym typeface="Avenir"/>
              </a:rPr>
              <a:t>* Las preguntas de cada cuadro son ejemplos para orientarte en la implementación de la herramienta. Puedes cambiar y/o modificarlas, y escribir algunas que tengan más sentido con el proyecto que estás realizando.</a:t>
            </a:r>
            <a:endParaRPr sz="2300" i="1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525" name="Google Shape;525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4954" y="901774"/>
            <a:ext cx="2908457" cy="788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41"/>
          <p:cNvPicPr preferRelativeResize="0"/>
          <p:nvPr/>
        </p:nvPicPr>
        <p:blipFill rotWithShape="1">
          <a:blip r:embed="rId3">
            <a:alphaModFix/>
          </a:blip>
          <a:srcRect r="73736"/>
          <a:stretch/>
        </p:blipFill>
        <p:spPr>
          <a:xfrm>
            <a:off x="10464087" y="497125"/>
            <a:ext cx="625451" cy="64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550" y="0"/>
            <a:ext cx="102089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ala de reuniones Ion">
  <a:themeElements>
    <a:clrScheme name="Sala de reuniones Ion">
      <a:dk1>
        <a:srgbClr val="000000"/>
      </a:dk1>
      <a:lt1>
        <a:srgbClr val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530</Words>
  <Application>Microsoft Office PowerPoint</Application>
  <PresentationFormat>Panorámica</PresentationFormat>
  <Paragraphs>29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Aptos</vt:lpstr>
      <vt:lpstr>Arial</vt:lpstr>
      <vt:lpstr>Avenir</vt:lpstr>
      <vt:lpstr>Century Gothic</vt:lpstr>
      <vt:lpstr>Noto Sans Symbols</vt:lpstr>
      <vt:lpstr>Sala de reuniones Ion</vt:lpstr>
      <vt:lpstr>MAPA DE EMPATÍA</vt:lpstr>
      <vt:lpstr>¿Qué es el mapa de empatía?</vt:lpstr>
      <vt:lpstr>Presentación de PowerPoint</vt:lpstr>
      <vt:lpstr>MAPA DE EMPATÍA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Cardenas</dc:creator>
  <cp:lastModifiedBy>Felipe Cardenas</cp:lastModifiedBy>
  <cp:revision>1</cp:revision>
  <dcterms:created xsi:type="dcterms:W3CDTF">2025-11-14T19:30:35Z</dcterms:created>
  <dcterms:modified xsi:type="dcterms:W3CDTF">2025-11-14T19:31:16Z</dcterms:modified>
</cp:coreProperties>
</file>