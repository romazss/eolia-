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notesMasterIdLst>
    <p:notesMasterId r:id="rId10"/>
  </p:notesMasterIdLst>
  <p:sldIdLst>
    <p:sldId id="261" r:id="rId3"/>
    <p:sldId id="262" r:id="rId4"/>
    <p:sldId id="263" r:id="rId5"/>
    <p:sldId id="264" r:id="rId6"/>
    <p:sldId id="265" r:id="rId7"/>
    <p:sldId id="266" r:id="rId8"/>
    <p:sldId id="267" r:id="rId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BE38A7-5416-47D7-9F6B-B8FAA47C52C5}" type="datetimeFigureOut">
              <a:rPr lang="es-ES" smtClean="0"/>
              <a:t>14/11/2025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A911DE-7114-4834-AEB4-3998FFC8D982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90920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6a8c0cccd4_0_10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g36a8c0cccd4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69a90ebf2f_0_2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g369a90ebf2f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369a90ebf2f_0_25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g369a90ebf2f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g365e1aa2965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g365e1aa2965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6a8c0cccd4_0_7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0" name="Google Shape;590;g36a8c0cccd4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Google Shape;596;g36a8c0cccd4_0_1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97" name="Google Shape;597;g36a8c0cccd4_0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Imagen con título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2" name="Google Shape;62;p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1" name="Google Shape;71;p5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72" name="Google Shape;72;p5"/>
          <p:cNvSpPr txBox="1"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>
            <a:spLocks noGrp="1"/>
          </p:cNvSpPr>
          <p:nvPr>
            <p:ph type="pic" idx="2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154954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2963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2" name="Google Shape;82;p6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539016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Encabezado de sec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7" name="Google Shape;87;p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5" name="Google Shape;95;p7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7" name="Google Shape;97;p7"/>
          <p:cNvSpPr txBox="1"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"/>
          <p:cNvSpPr txBox="1"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7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5802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6" name="Google Shape;106;p8"/>
          <p:cNvSpPr txBox="1">
            <a:spLocks noGrp="1"/>
          </p:cNvSpPr>
          <p:nvPr>
            <p:ph type="body" idx="2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7" name="Google Shape;107;p8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8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680789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9"/>
          <p:cNvSpPr txBox="1">
            <a:spLocks noGrp="1"/>
          </p:cNvSpPr>
          <p:nvPr>
            <p:ph type="body" idx="2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body" idx="3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9"/>
          <p:cNvSpPr txBox="1">
            <a:spLocks noGrp="1"/>
          </p:cNvSpPr>
          <p:nvPr>
            <p:ph type="body" idx="4"/>
          </p:nvPr>
        </p:nvSpPr>
        <p:spPr>
          <a:xfrm>
            <a:off x="6208712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19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116" name="Google Shape;116;p9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9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41262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0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0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38056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panorámica con descripción">
  <p:cSld name="Imagen panorámica con descripció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6" name="Google Shape;126;p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4" name="Google Shape;134;p11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35" name="Google Shape;135;p11"/>
          <p:cNvSpPr txBox="1"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1"/>
          <p:cNvSpPr>
            <a:spLocks noGrp="1"/>
          </p:cNvSpPr>
          <p:nvPr>
            <p:ph type="pic" idx="2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37" name="Google Shape;137;p11"/>
          <p:cNvSpPr txBox="1">
            <a:spLocks noGrp="1"/>
          </p:cNvSpPr>
          <p:nvPr>
            <p:ph type="body" idx="1"/>
          </p:nvPr>
        </p:nvSpPr>
        <p:spPr>
          <a:xfrm>
            <a:off x="1154954" y="5536665"/>
            <a:ext cx="8825658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0705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descripción">
  <p:cSld name="Título y descripció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4" name="Google Shape;144;p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2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2"/>
            <p:cNvSpPr/>
            <p:nvPr/>
          </p:nvSpPr>
          <p:spPr>
            <a:xfrm rot="-589932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2"/>
            <p:cNvSpPr/>
            <p:nvPr/>
          </p:nvSpPr>
          <p:spPr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 extrusionOk="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2" name="Google Shape;152;p12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53" name="Google Shape;153;p12"/>
          <p:cNvSpPr txBox="1"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1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55" name="Google Shape;155;p12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2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15891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ita con descripción">
  <p:cSld name="Cita con descripción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1" name="Google Shape;161;p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3"/>
            <p:cNvSpPr/>
            <p:nvPr/>
          </p:nvSpPr>
          <p:spPr>
            <a:xfrm rot="-589932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69" name="Google Shape;169;p13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70" name="Google Shape;170;p13"/>
          <p:cNvSpPr txBox="1"/>
          <p:nvPr/>
        </p:nvSpPr>
        <p:spPr>
          <a:xfrm>
            <a:off x="881566" y="607336"/>
            <a:ext cx="80191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600" b="0" i="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71" name="Google Shape;171;p13"/>
          <p:cNvSpPr txBox="1"/>
          <p:nvPr/>
        </p:nvSpPr>
        <p:spPr>
          <a:xfrm>
            <a:off x="9884458" y="2613787"/>
            <a:ext cx="652763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600" b="0" i="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body" idx="1"/>
          </p:nvPr>
        </p:nvSpPr>
        <p:spPr>
          <a:xfrm>
            <a:off x="1945945" y="3678766"/>
            <a:ext cx="7731219" cy="34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body" idx="2"/>
          </p:nvPr>
        </p:nvSpPr>
        <p:spPr>
          <a:xfrm>
            <a:off x="1154954" y="5029199"/>
            <a:ext cx="9244897" cy="99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43819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rjeta de nombre">
  <p:cSld name="Tarjeta de nombr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81" name="Google Shape;181;p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89932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89" name="Google Shape;189;p14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90" name="Google Shape;190;p14"/>
          <p:cNvSpPr txBox="1"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4"/>
          <p:cNvSpPr txBox="1"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4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4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7029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3">
  <p:cSld name="Columna 3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body" idx="2"/>
          </p:nvPr>
        </p:nvSpPr>
        <p:spPr>
          <a:xfrm>
            <a:off x="1154953" y="3179764"/>
            <a:ext cx="3141879" cy="2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body" idx="3"/>
          </p:nvPr>
        </p:nvSpPr>
        <p:spPr>
          <a:xfrm>
            <a:off x="4512721" y="2603500"/>
            <a:ext cx="314700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body" idx="4"/>
          </p:nvPr>
        </p:nvSpPr>
        <p:spPr>
          <a:xfrm>
            <a:off x="4512721" y="3179763"/>
            <a:ext cx="3147009" cy="2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body" idx="5"/>
          </p:nvPr>
        </p:nvSpPr>
        <p:spPr>
          <a:xfrm>
            <a:off x="7888135" y="2603501"/>
            <a:ext cx="314573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body" idx="6"/>
          </p:nvPr>
        </p:nvSpPr>
        <p:spPr>
          <a:xfrm>
            <a:off x="7888329" y="3179762"/>
            <a:ext cx="3145536" cy="2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04" name="Google Shape;204;p15"/>
          <p:cNvCxnSpPr/>
          <p:nvPr/>
        </p:nvCxnSpPr>
        <p:spPr>
          <a:xfrm>
            <a:off x="4403971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15"/>
          <p:cNvCxnSpPr/>
          <p:nvPr/>
        </p:nvCxnSpPr>
        <p:spPr>
          <a:xfrm>
            <a:off x="7772401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6" name="Google Shape;206;p15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770314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de imagen 3">
  <p:cSld name="Columna de imagen 3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2" name="Google Shape;212;p16"/>
          <p:cNvSpPr>
            <a:spLocks noGrp="1"/>
          </p:cNvSpPr>
          <p:nvPr>
            <p:ph type="pic" idx="2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213" name="Google Shape;213;p16"/>
          <p:cNvSpPr txBox="1">
            <a:spLocks noGrp="1"/>
          </p:cNvSpPr>
          <p:nvPr>
            <p:ph type="body" idx="3"/>
          </p:nvPr>
        </p:nvSpPr>
        <p:spPr>
          <a:xfrm>
            <a:off x="1154954" y="5109106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body" idx="4"/>
          </p:nvPr>
        </p:nvSpPr>
        <p:spPr>
          <a:xfrm>
            <a:off x="4568865" y="4532844"/>
            <a:ext cx="3050438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5" name="Google Shape;215;p16"/>
          <p:cNvSpPr>
            <a:spLocks noGrp="1"/>
          </p:cNvSpPr>
          <p:nvPr>
            <p:ph type="pic" idx="5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216" name="Google Shape;216;p16"/>
          <p:cNvSpPr txBox="1">
            <a:spLocks noGrp="1"/>
          </p:cNvSpPr>
          <p:nvPr>
            <p:ph type="body" idx="6"/>
          </p:nvPr>
        </p:nvSpPr>
        <p:spPr>
          <a:xfrm>
            <a:off x="4570172" y="5109105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body" idx="7"/>
          </p:nvPr>
        </p:nvSpPr>
        <p:spPr>
          <a:xfrm>
            <a:off x="7982775" y="4532845"/>
            <a:ext cx="305109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8" name="Google Shape;218;p16"/>
          <p:cNvSpPr>
            <a:spLocks noGrp="1"/>
          </p:cNvSpPr>
          <p:nvPr>
            <p:ph type="pic" idx="8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219" name="Google Shape;219;p16"/>
          <p:cNvSpPr txBox="1">
            <a:spLocks noGrp="1"/>
          </p:cNvSpPr>
          <p:nvPr>
            <p:ph type="body" idx="9"/>
          </p:nvPr>
        </p:nvSpPr>
        <p:spPr>
          <a:xfrm>
            <a:off x="7982775" y="5109104"/>
            <a:ext cx="3051096" cy="91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20" name="Google Shape;220;p16"/>
          <p:cNvCxnSpPr/>
          <p:nvPr/>
        </p:nvCxnSpPr>
        <p:spPr>
          <a:xfrm>
            <a:off x="4405831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16"/>
          <p:cNvCxnSpPr/>
          <p:nvPr/>
        </p:nvCxnSpPr>
        <p:spPr>
          <a:xfrm>
            <a:off x="7797802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16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ftr" idx="11"/>
          </p:nvPr>
        </p:nvSpPr>
        <p:spPr>
          <a:xfrm>
            <a:off x="561111" y="6391838"/>
            <a:ext cx="3644282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90717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7"/>
          <p:cNvSpPr txBox="1">
            <a:spLocks noGrp="1"/>
          </p:cNvSpPr>
          <p:nvPr>
            <p:ph type="body" idx="1"/>
          </p:nvPr>
        </p:nvSpPr>
        <p:spPr>
          <a:xfrm rot="5400000">
            <a:off x="3859634" y="-101179"/>
            <a:ext cx="3416300" cy="882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28" name="Google Shape;228;p17"/>
          <p:cNvSpPr txBox="1">
            <a:spLocks noGrp="1"/>
          </p:cNvSpPr>
          <p:nvPr>
            <p:ph type="dt" idx="10"/>
          </p:nvPr>
        </p:nvSpPr>
        <p:spPr>
          <a:xfrm>
            <a:off x="10695439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5303064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Diapositiva de título" type="title">
  <p:cSld name="Diapositiva de títul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8" name="Google Shape;28;p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30" name="Google Shape;30;p2"/>
          <p:cNvSpPr txBox="1"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Century Gothic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"/>
          <p:cNvSpPr txBox="1"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1000"/>
              </a:spcBef>
              <a:spcAft>
                <a:spcPts val="0"/>
              </a:spcAft>
              <a:buSzPts val="1440"/>
              <a:buNone/>
              <a:defRPr cap="none">
                <a:solidFill>
                  <a:srgbClr val="EE52A4"/>
                </a:solidFill>
              </a:defRPr>
            </a:lvl1pPr>
            <a:lvl2pPr lvl="1" algn="ctr">
              <a:spcBef>
                <a:spcPts val="1000"/>
              </a:spcBef>
              <a:spcAft>
                <a:spcPts val="0"/>
              </a:spcAft>
              <a:buSzPts val="128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1000"/>
              </a:spcBef>
              <a:spcAft>
                <a:spcPts val="0"/>
              </a:spcAft>
              <a:buSzPts val="11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1000"/>
              </a:spcBef>
              <a:spcAft>
                <a:spcPts val="0"/>
              </a:spcAft>
              <a:buSzPts val="9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2"/>
          <p:cNvSpPr txBox="1">
            <a:spLocks noGrp="1"/>
          </p:cNvSpPr>
          <p:nvPr>
            <p:ph type="dt" idx="10"/>
          </p:nvPr>
        </p:nvSpPr>
        <p:spPr>
          <a:xfrm rot="5400000">
            <a:off x="10158984" y="1792224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"/>
          <p:cNvSpPr txBox="1">
            <a:spLocks noGrp="1"/>
          </p:cNvSpPr>
          <p:nvPr>
            <p:ph type="ftr" idx="11"/>
          </p:nvPr>
        </p:nvSpPr>
        <p:spPr>
          <a:xfrm rot="5400000">
            <a:off x="8951976" y="3227832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l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410434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ido con título" type="objTx">
  <p:cSld name="Contenido con título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oogle Shape;37;p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8" name="Google Shape;38;p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 rot="-5677511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 rot="-54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47" name="Google Shape;47;p3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48" name="Google Shape;48;p3"/>
          <p:cNvSpPr txBox="1"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body" idx="1"/>
          </p:nvPr>
        </p:nvSpPr>
        <p:spPr>
          <a:xfrm>
            <a:off x="5781146" y="1447800"/>
            <a:ext cx="5190066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50" name="Google Shape;50;p3"/>
          <p:cNvSpPr txBox="1">
            <a:spLocks noGrp="1"/>
          </p:cNvSpPr>
          <p:nvPr>
            <p:ph type="body" idx="2"/>
          </p:nvPr>
        </p:nvSpPr>
        <p:spPr>
          <a:xfrm>
            <a:off x="1154954" y="3129280"/>
            <a:ext cx="2793158" cy="2895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51" name="Google Shape;51;p3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3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50404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 blanco" type="blank">
  <p:cSld name="En blanco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4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4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998393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Imagen con título" type="picTx">
  <p:cSld name="Imagen con título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" name="Google Shape;61;p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2" name="Google Shape;62;p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63;p5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64;p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66;p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67;p5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 rot="-5677511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 rot="-54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71" name="Google Shape;71;p5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72" name="Google Shape;72;p5"/>
          <p:cNvSpPr txBox="1"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5"/>
          <p:cNvSpPr>
            <a:spLocks noGrp="1"/>
          </p:cNvSpPr>
          <p:nvPr>
            <p:ph type="pic" idx="2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154954" y="3657600"/>
            <a:ext cx="3859212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5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196943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Título y objetos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6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8256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82" name="Google Shape;82;p6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6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88163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Encabezado de sección" type="secHead">
  <p:cSld name="Encabezado de sección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" name="Google Shape;86;p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7" name="Google Shape;87;p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Google Shape;90;p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Google Shape;91;p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Google Shape;92;p7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7"/>
            <p:cNvSpPr/>
            <p:nvPr/>
          </p:nvSpPr>
          <p:spPr>
            <a:xfrm rot="-54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95" name="Google Shape;95;p7"/>
            <p:cNvSpPr/>
            <p:nvPr/>
          </p:nvSpPr>
          <p:spPr>
            <a:xfrm rot="-5677511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Google Shape;96;p7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97" name="Google Shape;97;p7"/>
          <p:cNvSpPr txBox="1"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"/>
          <p:cNvSpPr txBox="1"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7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0853010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Dos objetos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8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8" cy="3416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6" name="Google Shape;106;p8"/>
          <p:cNvSpPr txBox="1">
            <a:spLocks noGrp="1"/>
          </p:cNvSpPr>
          <p:nvPr>
            <p:ph type="body" idx="2"/>
          </p:nvPr>
        </p:nvSpPr>
        <p:spPr>
          <a:xfrm>
            <a:off x="6208712" y="2603500"/>
            <a:ext cx="4825159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07" name="Google Shape;107;p8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8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9" name="Google Shape;109;p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870273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Comparación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9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9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3" name="Google Shape;113;p9"/>
          <p:cNvSpPr txBox="1">
            <a:spLocks noGrp="1"/>
          </p:cNvSpPr>
          <p:nvPr>
            <p:ph type="body" idx="2"/>
          </p:nvPr>
        </p:nvSpPr>
        <p:spPr>
          <a:xfrm>
            <a:off x="1154954" y="3179762"/>
            <a:ext cx="4825158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114" name="Google Shape;114;p9"/>
          <p:cNvSpPr txBox="1">
            <a:spLocks noGrp="1"/>
          </p:cNvSpPr>
          <p:nvPr>
            <p:ph type="body" idx="3"/>
          </p:nvPr>
        </p:nvSpPr>
        <p:spPr>
          <a:xfrm>
            <a:off x="6208712" y="2603500"/>
            <a:ext cx="482515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chemeClr val="accent1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15" name="Google Shape;115;p9"/>
          <p:cNvSpPr txBox="1">
            <a:spLocks noGrp="1"/>
          </p:cNvSpPr>
          <p:nvPr>
            <p:ph type="body" idx="4"/>
          </p:nvPr>
        </p:nvSpPr>
        <p:spPr>
          <a:xfrm>
            <a:off x="6208712" y="3179762"/>
            <a:ext cx="4825159" cy="2840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 sz="1800"/>
            </a:lvl1pPr>
            <a:lvl2pPr marL="914400" lvl="1" indent="-309880" algn="l">
              <a:spcBef>
                <a:spcPts val="1000"/>
              </a:spcBef>
              <a:spcAft>
                <a:spcPts val="0"/>
              </a:spcAft>
              <a:buSzPts val="1280"/>
              <a:buChar char="►"/>
              <a:defRPr sz="1600"/>
            </a:lvl2pPr>
            <a:lvl3pPr marL="1371600" lvl="2" indent="-299719" algn="l">
              <a:spcBef>
                <a:spcPts val="1000"/>
              </a:spcBef>
              <a:spcAft>
                <a:spcPts val="0"/>
              </a:spcAft>
              <a:buSzPts val="1120"/>
              <a:buChar char="►"/>
              <a:defRPr sz="1400"/>
            </a:lvl3pPr>
            <a:lvl4pPr marL="1828800" lvl="3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4pPr>
            <a:lvl5pPr marL="2286000" lvl="4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5pPr>
            <a:lvl6pPr marL="2743200" lvl="5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6pPr>
            <a:lvl7pPr marL="3200400" lvl="6" indent="-289560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7pPr>
            <a:lvl8pPr marL="3657600" lvl="7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8pPr>
            <a:lvl9pPr marL="4114800" lvl="8" indent="-289559" algn="l">
              <a:spcBef>
                <a:spcPts val="1000"/>
              </a:spcBef>
              <a:spcAft>
                <a:spcPts val="0"/>
              </a:spcAft>
              <a:buSzPts val="960"/>
              <a:buChar char="►"/>
              <a:defRPr sz="1200"/>
            </a:lvl9pPr>
          </a:lstStyle>
          <a:p>
            <a:endParaRPr/>
          </a:p>
        </p:txBody>
      </p:sp>
      <p:sp>
        <p:nvSpPr>
          <p:cNvPr id="116" name="Google Shape;116;p9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9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9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89894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Solo el título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0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0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0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0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479669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panorámica con descripción">
  <p:cSld name="Imagen panorámica con descripción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1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6" name="Google Shape;126;p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1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1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11"/>
            <p:cNvSpPr/>
            <p:nvPr/>
          </p:nvSpPr>
          <p:spPr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11"/>
            <p:cNvSpPr/>
            <p:nvPr/>
          </p:nvSpPr>
          <p:spPr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34" name="Google Shape;134;p11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35" name="Google Shape;135;p11"/>
          <p:cNvSpPr txBox="1"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Century Gothic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11"/>
          <p:cNvSpPr>
            <a:spLocks noGrp="1"/>
          </p:cNvSpPr>
          <p:nvPr>
            <p:ph type="pic" idx="2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137" name="Google Shape;137;p11"/>
          <p:cNvSpPr txBox="1">
            <a:spLocks noGrp="1"/>
          </p:cNvSpPr>
          <p:nvPr>
            <p:ph type="body" idx="1"/>
          </p:nvPr>
        </p:nvSpPr>
        <p:spPr>
          <a:xfrm>
            <a:off x="1154954" y="5536665"/>
            <a:ext cx="8825658" cy="493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38" name="Google Shape;138;p11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11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5857217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y descripción">
  <p:cSld name="Título y descripción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oogle Shape;143;p1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4" name="Google Shape;144;p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2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2"/>
            <p:cNvSpPr/>
            <p:nvPr/>
          </p:nvSpPr>
          <p:spPr>
            <a:xfrm rot="-589932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2"/>
            <p:cNvSpPr/>
            <p:nvPr/>
          </p:nvSpPr>
          <p:spPr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 extrusionOk="0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52" name="Google Shape;152;p12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53" name="Google Shape;153;p12"/>
          <p:cNvSpPr txBox="1"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2"/>
          <p:cNvSpPr txBox="1">
            <a:spLocks noGrp="1"/>
          </p:cNvSpPr>
          <p:nvPr>
            <p:ph type="body" idx="1"/>
          </p:nvPr>
        </p:nvSpPr>
        <p:spPr>
          <a:xfrm>
            <a:off x="1154954" y="3543300"/>
            <a:ext cx="8825659" cy="24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55" name="Google Shape;155;p12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2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033665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ita con descripción">
  <p:cSld name="Cita con descripción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1" name="Google Shape;161;p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13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1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3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3"/>
            <p:cNvSpPr/>
            <p:nvPr/>
          </p:nvSpPr>
          <p:spPr>
            <a:xfrm rot="-589932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3"/>
            <p:cNvSpPr/>
            <p:nvPr/>
          </p:nvSpPr>
          <p:spPr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69" name="Google Shape;169;p13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70" name="Google Shape;170;p13"/>
          <p:cNvSpPr txBox="1"/>
          <p:nvPr/>
        </p:nvSpPr>
        <p:spPr>
          <a:xfrm>
            <a:off x="881566" y="607336"/>
            <a:ext cx="801912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600" b="0" i="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endParaRPr/>
          </a:p>
        </p:txBody>
      </p:sp>
      <p:sp>
        <p:nvSpPr>
          <p:cNvPr id="171" name="Google Shape;171;p13"/>
          <p:cNvSpPr txBox="1"/>
          <p:nvPr/>
        </p:nvSpPr>
        <p:spPr>
          <a:xfrm>
            <a:off x="9884458" y="2613787"/>
            <a:ext cx="652763" cy="1569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9600" b="0" i="0">
                <a:solidFill>
                  <a:srgbClr val="EE52A4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/>
          </a:p>
        </p:txBody>
      </p:sp>
      <p:sp>
        <p:nvSpPr>
          <p:cNvPr id="172" name="Google Shape;172;p13"/>
          <p:cNvSpPr txBox="1"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13"/>
          <p:cNvSpPr txBox="1">
            <a:spLocks noGrp="1"/>
          </p:cNvSpPr>
          <p:nvPr>
            <p:ph type="body" idx="1"/>
          </p:nvPr>
        </p:nvSpPr>
        <p:spPr>
          <a:xfrm>
            <a:off x="1945945" y="3678766"/>
            <a:ext cx="7731219" cy="3421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 b="0" i="0" cap="small">
                <a:solidFill>
                  <a:srgbClr val="EE52A4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74" name="Google Shape;174;p13"/>
          <p:cNvSpPr txBox="1">
            <a:spLocks noGrp="1"/>
          </p:cNvSpPr>
          <p:nvPr>
            <p:ph type="body" idx="2"/>
          </p:nvPr>
        </p:nvSpPr>
        <p:spPr>
          <a:xfrm>
            <a:off x="1154954" y="5029199"/>
            <a:ext cx="9244897" cy="997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175" name="Google Shape;175;p13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13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84072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arjeta de nombre">
  <p:cSld name="Tarjeta de nombre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80;p1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81" name="Google Shape;181;p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14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89932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189" name="Google Shape;189;p14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190" name="Google Shape;190;p14"/>
          <p:cNvSpPr txBox="1"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Century Gothic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4"/>
          <p:cNvSpPr txBox="1"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cap="none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92" name="Google Shape;192;p14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4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2161829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3">
  <p:cSld name="Columna 3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5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15"/>
          <p:cNvSpPr txBox="1"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body" idx="2"/>
          </p:nvPr>
        </p:nvSpPr>
        <p:spPr>
          <a:xfrm>
            <a:off x="1154953" y="3179764"/>
            <a:ext cx="3141879" cy="2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body" idx="3"/>
          </p:nvPr>
        </p:nvSpPr>
        <p:spPr>
          <a:xfrm>
            <a:off x="4512721" y="2603500"/>
            <a:ext cx="3147009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body" idx="4"/>
          </p:nvPr>
        </p:nvSpPr>
        <p:spPr>
          <a:xfrm>
            <a:off x="4512721" y="3179763"/>
            <a:ext cx="3147009" cy="2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body" idx="5"/>
          </p:nvPr>
        </p:nvSpPr>
        <p:spPr>
          <a:xfrm>
            <a:off x="7888135" y="2603501"/>
            <a:ext cx="314573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body" idx="6"/>
          </p:nvPr>
        </p:nvSpPr>
        <p:spPr>
          <a:xfrm>
            <a:off x="7888329" y="3179762"/>
            <a:ext cx="3145536" cy="28472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04" name="Google Shape;204;p15"/>
          <p:cNvCxnSpPr/>
          <p:nvPr/>
        </p:nvCxnSpPr>
        <p:spPr>
          <a:xfrm>
            <a:off x="4403971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05" name="Google Shape;205;p15"/>
          <p:cNvCxnSpPr/>
          <p:nvPr/>
        </p:nvCxnSpPr>
        <p:spPr>
          <a:xfrm>
            <a:off x="7772401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6" name="Google Shape;206;p15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8" name="Google Shape;208;p15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9647596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lumna de imagen 3">
  <p:cSld name="Columna de imagen 3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6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2" name="Google Shape;212;p16"/>
          <p:cNvSpPr>
            <a:spLocks noGrp="1"/>
          </p:cNvSpPr>
          <p:nvPr>
            <p:ph type="pic" idx="2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213" name="Google Shape;213;p16"/>
          <p:cNvSpPr txBox="1">
            <a:spLocks noGrp="1"/>
          </p:cNvSpPr>
          <p:nvPr>
            <p:ph type="body" idx="3"/>
          </p:nvPr>
        </p:nvSpPr>
        <p:spPr>
          <a:xfrm>
            <a:off x="1154954" y="5109106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14" name="Google Shape;214;p16"/>
          <p:cNvSpPr txBox="1">
            <a:spLocks noGrp="1"/>
          </p:cNvSpPr>
          <p:nvPr>
            <p:ph type="body" idx="4"/>
          </p:nvPr>
        </p:nvSpPr>
        <p:spPr>
          <a:xfrm>
            <a:off x="4568865" y="4532844"/>
            <a:ext cx="3050438" cy="5762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5" name="Google Shape;215;p16"/>
          <p:cNvSpPr>
            <a:spLocks noGrp="1"/>
          </p:cNvSpPr>
          <p:nvPr>
            <p:ph type="pic" idx="5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216" name="Google Shape;216;p16"/>
          <p:cNvSpPr txBox="1">
            <a:spLocks noGrp="1"/>
          </p:cNvSpPr>
          <p:nvPr>
            <p:ph type="body" idx="6"/>
          </p:nvPr>
        </p:nvSpPr>
        <p:spPr>
          <a:xfrm>
            <a:off x="4570172" y="5109105"/>
            <a:ext cx="3050438" cy="91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sp>
        <p:nvSpPr>
          <p:cNvPr id="217" name="Google Shape;217;p16"/>
          <p:cNvSpPr txBox="1">
            <a:spLocks noGrp="1"/>
          </p:cNvSpPr>
          <p:nvPr>
            <p:ph type="body" idx="7"/>
          </p:nvPr>
        </p:nvSpPr>
        <p:spPr>
          <a:xfrm>
            <a:off x="7982775" y="4532845"/>
            <a:ext cx="3051095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920"/>
              <a:buNone/>
              <a:defRPr sz="2400" b="0">
                <a:solidFill>
                  <a:srgbClr val="EE52A4"/>
                </a:solidFill>
              </a:defRPr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1600"/>
              <a:buNone/>
              <a:defRPr sz="2000" b="1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1440"/>
              <a:buNone/>
              <a:defRPr sz="1800" b="1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1280"/>
              <a:buNone/>
              <a:defRPr sz="1600" b="1"/>
            </a:lvl9pPr>
          </a:lstStyle>
          <a:p>
            <a:endParaRPr/>
          </a:p>
        </p:txBody>
      </p:sp>
      <p:sp>
        <p:nvSpPr>
          <p:cNvPr id="218" name="Google Shape;218;p16"/>
          <p:cNvSpPr>
            <a:spLocks noGrp="1"/>
          </p:cNvSpPr>
          <p:nvPr>
            <p:ph type="pic" idx="8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50800" dist="50800" dir="5400000" algn="tl" rotWithShape="0">
              <a:srgbClr val="000000">
                <a:alpha val="42745"/>
              </a:srgbClr>
            </a:outerShdw>
          </a:effectLst>
        </p:spPr>
      </p:sp>
      <p:sp>
        <p:nvSpPr>
          <p:cNvPr id="219" name="Google Shape;219;p16"/>
          <p:cNvSpPr txBox="1">
            <a:spLocks noGrp="1"/>
          </p:cNvSpPr>
          <p:nvPr>
            <p:ph type="body" idx="9"/>
          </p:nvPr>
        </p:nvSpPr>
        <p:spPr>
          <a:xfrm>
            <a:off x="7982775" y="5109104"/>
            <a:ext cx="3051096" cy="9179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1000"/>
              </a:spcBef>
              <a:spcAft>
                <a:spcPts val="0"/>
              </a:spcAft>
              <a:buSzPts val="1120"/>
              <a:buNone/>
              <a:defRPr sz="1400"/>
            </a:lvl1pPr>
            <a:lvl2pPr marL="914400" lvl="1" indent="-228600" algn="l">
              <a:spcBef>
                <a:spcPts val="1000"/>
              </a:spcBef>
              <a:spcAft>
                <a:spcPts val="0"/>
              </a:spcAft>
              <a:buSzPts val="960"/>
              <a:buNone/>
              <a:defRPr sz="1200"/>
            </a:lvl2pPr>
            <a:lvl3pPr marL="1371600" lvl="2" indent="-228600" algn="l">
              <a:spcBef>
                <a:spcPts val="1000"/>
              </a:spcBef>
              <a:spcAft>
                <a:spcPts val="0"/>
              </a:spcAft>
              <a:buSzPts val="800"/>
              <a:buNone/>
              <a:defRPr sz="1000"/>
            </a:lvl3pPr>
            <a:lvl4pPr marL="1828800" lvl="3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4pPr>
            <a:lvl5pPr marL="2286000" lvl="4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5pPr>
            <a:lvl6pPr marL="2743200" lvl="5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6pPr>
            <a:lvl7pPr marL="3200400" lvl="6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7pPr>
            <a:lvl8pPr marL="3657600" lvl="7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8pPr>
            <a:lvl9pPr marL="4114800" lvl="8" indent="-228600" algn="l">
              <a:spcBef>
                <a:spcPts val="1000"/>
              </a:spcBef>
              <a:spcAft>
                <a:spcPts val="0"/>
              </a:spcAft>
              <a:buSzPts val="720"/>
              <a:buNone/>
              <a:defRPr sz="900"/>
            </a:lvl9pPr>
          </a:lstStyle>
          <a:p>
            <a:endParaRPr/>
          </a:p>
        </p:txBody>
      </p:sp>
      <p:cxnSp>
        <p:nvCxnSpPr>
          <p:cNvPr id="220" name="Google Shape;220;p16"/>
          <p:cNvCxnSpPr/>
          <p:nvPr/>
        </p:nvCxnSpPr>
        <p:spPr>
          <a:xfrm>
            <a:off x="4405831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1" name="Google Shape;221;p16"/>
          <p:cNvCxnSpPr/>
          <p:nvPr/>
        </p:nvCxnSpPr>
        <p:spPr>
          <a:xfrm>
            <a:off x="7797802" y="2569633"/>
            <a:ext cx="0" cy="3492499"/>
          </a:xfrm>
          <a:prstGeom prst="straightConnector1">
            <a:avLst/>
          </a:prstGeom>
          <a:noFill/>
          <a:ln w="12700" cap="flat" cmpd="sng">
            <a:solidFill>
              <a:schemeClr val="accent1">
                <a:alpha val="40000"/>
              </a:schemeClr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2" name="Google Shape;222;p16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16"/>
          <p:cNvSpPr txBox="1">
            <a:spLocks noGrp="1"/>
          </p:cNvSpPr>
          <p:nvPr>
            <p:ph type="ftr" idx="11"/>
          </p:nvPr>
        </p:nvSpPr>
        <p:spPr>
          <a:xfrm>
            <a:off x="561111" y="6391838"/>
            <a:ext cx="3644282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4" name="Google Shape;224;p16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1751136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Título y texto vertical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7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17"/>
          <p:cNvSpPr txBox="1">
            <a:spLocks noGrp="1"/>
          </p:cNvSpPr>
          <p:nvPr>
            <p:ph type="body" idx="1"/>
          </p:nvPr>
        </p:nvSpPr>
        <p:spPr>
          <a:xfrm rot="5400000">
            <a:off x="3859634" y="-101179"/>
            <a:ext cx="3416300" cy="8825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28" name="Google Shape;228;p17"/>
          <p:cNvSpPr txBox="1">
            <a:spLocks noGrp="1"/>
          </p:cNvSpPr>
          <p:nvPr>
            <p:ph type="dt" idx="10"/>
          </p:nvPr>
        </p:nvSpPr>
        <p:spPr>
          <a:xfrm>
            <a:off x="10695439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9" name="Google Shape;229;p17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17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49929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ítulo vertical y texto" type="vertTitleAndTx">
  <p:cSld name="Título vertical y texto"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2" name="Google Shape;232;p1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33" name="Google Shape;233;p1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2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Google Shape;234;p18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Google Shape;235;p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Google Shape;236;p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Google Shape;237;p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Google Shape;238;p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Google Shape;239;p18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8"/>
            <p:cNvSpPr/>
            <p:nvPr/>
          </p:nvSpPr>
          <p:spPr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8"/>
            <p:cNvSpPr/>
            <p:nvPr/>
          </p:nvSpPr>
          <p:spPr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 extrusionOk="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  <p:sp>
          <p:nvSpPr>
            <p:cNvPr id="242" name="Google Shape;242;p18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</p:sp>
      </p:grpSp>
      <p:sp>
        <p:nvSpPr>
          <p:cNvPr id="243" name="Google Shape;243;p18"/>
          <p:cNvSpPr txBox="1">
            <a:spLocks noGrp="1"/>
          </p:cNvSpPr>
          <p:nvPr>
            <p:ph type="title"/>
          </p:nvPr>
        </p:nvSpPr>
        <p:spPr>
          <a:xfrm rot="5400000">
            <a:off x="6915923" y="2947780"/>
            <a:ext cx="4748590" cy="1409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4" name="Google Shape;244;p18"/>
          <p:cNvSpPr txBox="1">
            <a:spLocks noGrp="1"/>
          </p:cNvSpPr>
          <p:nvPr>
            <p:ph type="body" idx="1"/>
          </p:nvPr>
        </p:nvSpPr>
        <p:spPr>
          <a:xfrm rot="5400000">
            <a:off x="1908672" y="524749"/>
            <a:ext cx="4748590" cy="6256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1pPr>
            <a:lvl2pPr marL="914400" lvl="1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2pPr>
            <a:lvl3pPr marL="1371600" lvl="2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3pPr>
            <a:lvl4pPr marL="1828800" lvl="3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4pPr>
            <a:lvl5pPr marL="2286000" lvl="4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5pPr>
            <a:lvl6pPr marL="2743200" lvl="5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6pPr>
            <a:lvl7pPr marL="3200400" lvl="6" indent="-320039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7pPr>
            <a:lvl8pPr marL="3657600" lvl="7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8pPr>
            <a:lvl9pPr marL="4114800" lvl="8" indent="-320040" algn="l">
              <a:spcBef>
                <a:spcPts val="1000"/>
              </a:spcBef>
              <a:spcAft>
                <a:spcPts val="0"/>
              </a:spcAft>
              <a:buSzPts val="1440"/>
              <a:buChar char="►"/>
              <a:defRPr/>
            </a:lvl9pPr>
          </a:lstStyle>
          <a:p>
            <a:endParaRPr/>
          </a:p>
        </p:txBody>
      </p:sp>
      <p:sp>
        <p:nvSpPr>
          <p:cNvPr id="245" name="Google Shape;245;p18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2135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6" name="Google Shape;246;p18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8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0408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Google Shape;11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5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0" name="Google Shape;20;p1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1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37085531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Google Shape;11;p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19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>
              <a:gsLst>
                <a:gs pos="0">
                  <a:srgbClr val="9B6BF2">
                    <a:alpha val="10980"/>
                  </a:srgbClr>
                </a:gs>
                <a:gs pos="36000">
                  <a:srgbClr val="9B6BF2">
                    <a:alpha val="9803"/>
                  </a:srgbClr>
                </a:gs>
                <a:gs pos="75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>
              <a:gsLst>
                <a:gs pos="0">
                  <a:srgbClr val="9B6BF2">
                    <a:alpha val="7843"/>
                  </a:srgbClr>
                </a:gs>
                <a:gs pos="36000">
                  <a:srgbClr val="9B6BF2">
                    <a:alpha val="7843"/>
                  </a:srgbClr>
                </a:gs>
                <a:gs pos="72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1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66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1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>
              <a:gsLst>
                <a:gs pos="0">
                  <a:srgbClr val="9B6BF2">
                    <a:alpha val="6666"/>
                  </a:srgbClr>
                </a:gs>
                <a:gs pos="36000">
                  <a:srgbClr val="9B6BF2">
                    <a:alpha val="5882"/>
                  </a:srgbClr>
                </a:gs>
                <a:gs pos="69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>
              <a:gsLst>
                <a:gs pos="0">
                  <a:srgbClr val="9B6BF2">
                    <a:alpha val="13725"/>
                  </a:srgbClr>
                </a:gs>
                <a:gs pos="36000">
                  <a:srgbClr val="9B6BF2">
                    <a:alpha val="6666"/>
                  </a:srgbClr>
                </a:gs>
                <a:gs pos="73000">
                  <a:srgbClr val="9B6BF2">
                    <a:alpha val="0"/>
                  </a:srgbClr>
                </a:gs>
                <a:gs pos="100000">
                  <a:srgbClr val="9B6BF2">
                    <a:alpha val="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 rot="-589932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 extrusionOk="0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l" t="t" r="r" b="b"/>
              <a:pathLst>
                <a:path w="7104" h="2856" extrusionOk="0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  <p:sp>
          <p:nvSpPr>
            <p:cNvPr id="19" name="Google Shape;19;p1"/>
            <p:cNvSpPr/>
            <p:nvPr/>
          </p:nvSpPr>
          <p:spPr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/>
            <a:p>
              <a:endParaRPr lang="es-ES"/>
            </a:p>
          </p:txBody>
        </p:sp>
      </p:grpSp>
      <p:sp>
        <p:nvSpPr>
          <p:cNvPr id="20" name="Google Shape;20;p1"/>
          <p:cNvSpPr txBox="1"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entury Gothic"/>
              <a:buNone/>
              <a:defRPr sz="3600" b="0" i="0" u="none" strike="noStrike" cap="none">
                <a:solidFill>
                  <a:schemeClr val="lt2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1"/>
          <p:cNvSpPr txBox="1"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2004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40"/>
              <a:buFont typeface="Noto Sans Symbols"/>
              <a:buChar char="►"/>
              <a:defRPr sz="18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914400" marR="0" lvl="1" indent="-30988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280"/>
              <a:buFont typeface="Noto Sans Symbols"/>
              <a:buChar char="►"/>
              <a:defRPr sz="16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1371600" marR="0" lvl="2" indent="-29971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120"/>
              <a:buFont typeface="Noto Sans Symbols"/>
              <a:buChar char="►"/>
              <a:defRPr sz="14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1828800" marR="0" lvl="3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2286000" marR="0" lvl="4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2743200" marR="0" lvl="5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3200400" marR="0" lvl="6" indent="-289560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3657600" marR="0" lvl="7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4114800" marR="0" lvl="8" indent="-289559" algn="l" rtl="0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960"/>
              <a:buFont typeface="Noto Sans Symbols"/>
              <a:buChar char="►"/>
              <a:defRPr sz="1200" b="0" i="0" u="none" strike="noStrike" cap="none">
                <a:solidFill>
                  <a:srgbClr val="3F3F3F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2" name="Google Shape;22;p1"/>
          <p:cNvSpPr txBox="1">
            <a:spLocks noGrp="1"/>
          </p:cNvSpPr>
          <p:nvPr>
            <p:ph type="dt" idx="10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3" name="Google Shape;23;p1"/>
          <p:cNvSpPr txBox="1">
            <a:spLocks noGrp="1"/>
          </p:cNvSpPr>
          <p:nvPr>
            <p:ph type="ftr" idx="11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1" i="0" u="none" strike="noStrike" cap="none">
                <a:solidFill>
                  <a:schemeClr val="accen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05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1"/>
          <p:cNvSpPr txBox="1">
            <a:spLocks noGrp="1"/>
          </p:cNvSpPr>
          <p:nvPr>
            <p:ph type="sldNum" idx="12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1pPr>
            <a:lvl2pPr marL="0" marR="0" lvl="1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2pPr>
            <a:lvl3pPr marL="0" marR="0" lvl="2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3pPr>
            <a:lvl4pPr marL="0" marR="0" lvl="3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4pPr>
            <a:lvl5pPr marL="0" marR="0" lvl="4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5pPr>
            <a:lvl6pPr marL="0" marR="0" lvl="5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6pPr>
            <a:lvl7pPr marL="0" marR="0" lvl="6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7pPr>
            <a:lvl8pPr marL="0" marR="0" lvl="7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8pPr>
            <a:lvl9pPr marL="0" marR="0" lvl="8" indent="0" algn="ctr" rtl="0">
              <a:spcBef>
                <a:spcPts val="0"/>
              </a:spcBef>
              <a:buNone/>
              <a:defRPr sz="2800" b="0" i="0" u="none" strike="noStrike" cap="none">
                <a:solidFill>
                  <a:schemeClr val="lt1"/>
                </a:solidFill>
                <a:latin typeface="Century Gothic"/>
                <a:ea typeface="Century Gothic"/>
                <a:cs typeface="Century Gothic"/>
                <a:sym typeface="Century Gothic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2618436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  <p:sldLayoutId id="2147483692" r:id="rId15"/>
    <p:sldLayoutId id="2147483693" r:id="rId16"/>
    <p:sldLayoutId id="2147483694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4" Type="http://schemas.openxmlformats.org/officeDocument/2006/relationships/hyperlink" Target="https://design-toolkit.recursos.uoc.edu/es/scamper-visual/" TargetMode="Externa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6" name="Google Shape;536;p43"/>
          <p:cNvGrpSpPr/>
          <p:nvPr/>
        </p:nvGrpSpPr>
        <p:grpSpPr>
          <a:xfrm>
            <a:off x="0" y="0"/>
            <a:ext cx="12192011" cy="6858000"/>
            <a:chOff x="0" y="0"/>
            <a:chExt cx="12192011" cy="6858000"/>
          </a:xfrm>
        </p:grpSpPr>
        <p:sp>
          <p:nvSpPr>
            <p:cNvPr id="537" name="Google Shape;537;p4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/>
              </a:stretch>
            </a:blip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entury Gothic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  <p:sp>
          <p:nvSpPr>
            <p:cNvPr id="538" name="Google Shape;538;p43"/>
            <p:cNvSpPr/>
            <p:nvPr/>
          </p:nvSpPr>
          <p:spPr>
            <a:xfrm>
              <a:off x="0" y="1587"/>
              <a:ext cx="12192011" cy="6856413"/>
            </a:xfrm>
            <a:custGeom>
              <a:avLst/>
              <a:gdLst/>
              <a:ahLst/>
              <a:cxnLst/>
              <a:rect l="l" t="t" r="r" b="b"/>
              <a:pathLst>
                <a:path w="15356" h="8638" extrusionOk="0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entury Gothic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endParaRPr>
            </a:p>
          </p:txBody>
        </p:sp>
      </p:grpSp>
      <p:pic>
        <p:nvPicPr>
          <p:cNvPr id="539" name="Google Shape;539;p43"/>
          <p:cNvPicPr preferRelativeResize="0"/>
          <p:nvPr/>
        </p:nvPicPr>
        <p:blipFill rotWithShape="1">
          <a:blip r:embed="rId4">
            <a:alphaModFix amt="25000"/>
          </a:blip>
          <a:srcRect t="27064" r="9090" b="1882"/>
          <a:stretch/>
        </p:blipFill>
        <p:spPr>
          <a:xfrm>
            <a:off x="474133" y="475488"/>
            <a:ext cx="11243735" cy="5909732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38100" dist="25400" dir="5400000" rotWithShape="0">
              <a:srgbClr val="000000">
                <a:alpha val="4471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entury Gothic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pic>
        <p:nvPicPr>
          <p:cNvPr id="541" name="Google Shape;541;p43"/>
          <p:cNvPicPr preferRelativeResize="0"/>
          <p:nvPr/>
        </p:nvPicPr>
        <p:blipFill rotWithShape="1">
          <a:blip r:embed="rId5">
            <a:alphaModFix/>
          </a:blip>
          <a:srcRect r="73736"/>
          <a:stretch/>
        </p:blipFill>
        <p:spPr>
          <a:xfrm>
            <a:off x="10437812" y="497125"/>
            <a:ext cx="625451" cy="6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43"/>
          <p:cNvSpPr txBox="1">
            <a:spLocks noGrp="1"/>
          </p:cNvSpPr>
          <p:nvPr>
            <p:ph type="ctrTitle"/>
          </p:nvPr>
        </p:nvSpPr>
        <p:spPr>
          <a:xfrm>
            <a:off x="1682404" y="2091621"/>
            <a:ext cx="8827200" cy="26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entury Gothic"/>
              <a:buNone/>
            </a:pPr>
            <a:r>
              <a:rPr lang="es-CL" b="1">
                <a:solidFill>
                  <a:schemeClr val="lt1"/>
                </a:solidFill>
              </a:rPr>
              <a:t>SCAMPER</a:t>
            </a:r>
            <a:endParaRPr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4"/>
          <p:cNvSpPr txBox="1">
            <a:spLocks noGrp="1"/>
          </p:cNvSpPr>
          <p:nvPr>
            <p:ph type="title"/>
          </p:nvPr>
        </p:nvSpPr>
        <p:spPr>
          <a:xfrm>
            <a:off x="8191725" y="2089000"/>
            <a:ext cx="3371100" cy="14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lt1"/>
                </a:solidFill>
              </a:rPr>
              <a:t>¿Qué es el SCAMPER?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548" name="Google Shape;548;p44"/>
          <p:cNvPicPr preferRelativeResize="0"/>
          <p:nvPr/>
        </p:nvPicPr>
        <p:blipFill rotWithShape="1">
          <a:blip r:embed="rId3">
            <a:alphaModFix/>
          </a:blip>
          <a:srcRect r="73736"/>
          <a:stretch/>
        </p:blipFill>
        <p:spPr>
          <a:xfrm>
            <a:off x="10458477" y="497125"/>
            <a:ext cx="625451" cy="6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49" name="Google Shape;549;p44"/>
          <p:cNvSpPr txBox="1"/>
          <p:nvPr/>
        </p:nvSpPr>
        <p:spPr>
          <a:xfrm>
            <a:off x="576025" y="807450"/>
            <a:ext cx="6667500" cy="52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  <a:tabLst/>
              <a:defRPr/>
            </a:pPr>
            <a:r>
              <a:rPr kumimoji="0" lang="es-CL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Es una técnica que mezcla preguntas simples para transformar o mejorar algo ya existente (un producto, servicio, idea, etc.). Fue creada a partir del brainstorming y organizada con un nombre fácil de recordar: SCAMPER.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  <a:tabLst/>
              <a:defRPr/>
            </a:pPr>
            <a:r>
              <a:rPr kumimoji="0" lang="es-CL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¿Qué significa cada letra?</a:t>
            </a:r>
            <a:endParaRPr kumimoji="0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1150" algn="just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entury Gothic"/>
              <a:buChar char="-"/>
              <a:tabLst/>
              <a:defRPr/>
            </a:pPr>
            <a:r>
              <a:rPr kumimoji="0" lang="es-CL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Sustituir: Cambiar elementos, materiales, procesos o incluso emociones asociadas.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115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entury Gothic"/>
              <a:buChar char="-"/>
              <a:tabLst/>
              <a:defRPr/>
            </a:pPr>
            <a:r>
              <a:rPr kumimoji="0" lang="es-CL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Combinar: Unir ideas, funciones o conceptos distintos.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115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entury Gothic"/>
              <a:buChar char="-"/>
              <a:tabLst/>
              <a:defRPr/>
            </a:pPr>
            <a:r>
              <a:rPr kumimoji="0" lang="es-CL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Adaptar: Tomar inspiración de otros contextos o soluciones ya existentes.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115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entury Gothic"/>
              <a:buChar char="-"/>
              <a:tabLst/>
              <a:defRPr/>
            </a:pPr>
            <a:r>
              <a:rPr kumimoji="0" lang="es-CL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Modificar: Alterar el tamaño, forma, color o cualquier atributo.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115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entury Gothic"/>
              <a:buChar char="-"/>
              <a:tabLst/>
              <a:defRPr/>
            </a:pPr>
            <a:r>
              <a:rPr kumimoji="0" lang="es-CL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Propositar otros usos: ¿Se puede usar para algo diferente a su función original?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115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entury Gothic"/>
              <a:buChar char="-"/>
              <a:tabLst/>
              <a:defRPr/>
            </a:pPr>
            <a:r>
              <a:rPr kumimoji="0" lang="es-CL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Eliminar (o reducir): Quitar partes, simplificar o hacerlo más minimalista.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457200" marR="0" lvl="0" indent="-311150" algn="just" defTabSz="9144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entury Gothic"/>
              <a:buChar char="-"/>
              <a:tabLst/>
              <a:defRPr/>
            </a:pPr>
            <a:r>
              <a:rPr kumimoji="0" lang="es-CL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Reordenar (o invertir): Cambiar el orden, la estructura o los roles de los elementos.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  <a:tabLst/>
              <a:defRPr/>
            </a:pP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  <a:tabLst/>
              <a:defRPr/>
            </a:pPr>
            <a:r>
              <a:rPr kumimoji="0" lang="es-CL" sz="13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¿Por qué usarlo?</a:t>
            </a:r>
            <a:endParaRPr kumimoji="0" sz="13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  <a:tabLst/>
              <a:defRPr/>
            </a:pPr>
            <a:r>
              <a:rPr kumimoji="0" lang="es-CL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Ayuda a mejorar algo pequeño o a reinventarlo por completo.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just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440"/>
              <a:buFont typeface="Arial"/>
              <a:buNone/>
              <a:tabLst/>
              <a:defRPr/>
            </a:pPr>
            <a:r>
              <a:rPr kumimoji="0" lang="es-CL" sz="13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En versión visual: Dibujando el producto/servicio y aplicando estas preguntas, la creatividad fluye mejor.</a:t>
            </a:r>
            <a:endParaRPr kumimoji="0" sz="13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550" name="Google Shape;550;p44"/>
          <p:cNvSpPr txBox="1">
            <a:spLocks noGrp="1"/>
          </p:cNvSpPr>
          <p:nvPr>
            <p:ph type="title"/>
          </p:nvPr>
        </p:nvSpPr>
        <p:spPr>
          <a:xfrm>
            <a:off x="8450025" y="4622650"/>
            <a:ext cx="3112800" cy="14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 b="1">
                <a:solidFill>
                  <a:schemeClr val="lt1"/>
                </a:solidFill>
              </a:rPr>
              <a:t>¿Quieres saber más de esta herramienta?</a:t>
            </a:r>
            <a:endParaRPr sz="1400" b="1">
              <a:solidFill>
                <a:schemeClr val="lt1"/>
              </a:solidFill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lt1"/>
                </a:solidFill>
              </a:rPr>
              <a:t>Revisa el siguiente link: </a:t>
            </a:r>
            <a:r>
              <a:rPr lang="es-CL" sz="1200" b="1" u="sng">
                <a:solidFill>
                  <a:schemeClr val="lt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https://design-toolkit.recursos.uoc.edu/es/scamper-visual/</a:t>
            </a:r>
            <a:endParaRPr sz="3800" b="1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5" name="Google Shape;555;p45"/>
          <p:cNvPicPr preferRelativeResize="0"/>
          <p:nvPr/>
        </p:nvPicPr>
        <p:blipFill rotWithShape="1">
          <a:blip r:embed="rId3">
            <a:alphaModFix/>
          </a:blip>
          <a:srcRect r="73736"/>
          <a:stretch/>
        </p:blipFill>
        <p:spPr>
          <a:xfrm>
            <a:off x="9828212" y="420925"/>
            <a:ext cx="625451" cy="6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45"/>
          <p:cNvSpPr txBox="1">
            <a:spLocks noGrp="1"/>
          </p:cNvSpPr>
          <p:nvPr>
            <p:ph type="body" idx="4294967295"/>
          </p:nvPr>
        </p:nvSpPr>
        <p:spPr>
          <a:xfrm>
            <a:off x="511125" y="239475"/>
            <a:ext cx="28440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625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258" b="1">
                <a:highlight>
                  <a:srgbClr val="E4CAD2"/>
                </a:highlight>
                <a:latin typeface="Avenir"/>
                <a:ea typeface="Avenir"/>
                <a:cs typeface="Avenir"/>
                <a:sym typeface="Avenir"/>
              </a:rPr>
              <a:t>SCAMPER COTIDIANO</a:t>
            </a:r>
            <a:endParaRPr sz="2258" b="1">
              <a:highlight>
                <a:srgbClr val="E4CAD2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pic>
        <p:nvPicPr>
          <p:cNvPr id="557" name="Google Shape;557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4150" y="2982175"/>
            <a:ext cx="2162175" cy="136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8" name="Google Shape;558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831200" y="2955290"/>
            <a:ext cx="1922173" cy="1075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559" name="Google Shape;559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65516" y="2606309"/>
            <a:ext cx="2135747" cy="896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560" name="Google Shape;560;p4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109811" y="3565980"/>
            <a:ext cx="1991440" cy="104935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544598" y="1602025"/>
            <a:ext cx="1471934" cy="193528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4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9612267" y="1906825"/>
            <a:ext cx="1982782" cy="9719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5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9612266" y="3016388"/>
            <a:ext cx="1974123" cy="74831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45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603593" y="3565980"/>
            <a:ext cx="1385350" cy="184067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45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9446142" y="3979729"/>
            <a:ext cx="1297257" cy="765512"/>
          </a:xfrm>
          <a:prstGeom prst="rect">
            <a:avLst/>
          </a:prstGeom>
          <a:noFill/>
          <a:ln>
            <a:noFill/>
          </a:ln>
        </p:spPr>
      </p:pic>
      <p:pic>
        <p:nvPicPr>
          <p:cNvPr id="566" name="Google Shape;566;p45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1027909" y="3807704"/>
            <a:ext cx="804416" cy="15151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1" name="Google Shape;571;p46"/>
          <p:cNvPicPr preferRelativeResize="0"/>
          <p:nvPr/>
        </p:nvPicPr>
        <p:blipFill rotWithShape="1">
          <a:blip r:embed="rId3">
            <a:alphaModFix/>
          </a:blip>
          <a:srcRect r="73736"/>
          <a:stretch/>
        </p:blipFill>
        <p:spPr>
          <a:xfrm>
            <a:off x="9828212" y="420925"/>
            <a:ext cx="625451" cy="64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2" name="Google Shape;57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600" y="1502675"/>
            <a:ext cx="975360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3" name="Google Shape;573;p46"/>
          <p:cNvSpPr txBox="1">
            <a:spLocks noGrp="1"/>
          </p:cNvSpPr>
          <p:nvPr>
            <p:ph type="body" idx="4294967295"/>
          </p:nvPr>
        </p:nvSpPr>
        <p:spPr>
          <a:xfrm>
            <a:off x="4944950" y="1066800"/>
            <a:ext cx="15903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 b="1">
                <a:latin typeface="Avenir"/>
                <a:ea typeface="Avenir"/>
                <a:cs typeface="Avenir"/>
                <a:sym typeface="Avenir"/>
              </a:rPr>
              <a:t>Subsistir</a:t>
            </a:r>
            <a:endParaRPr sz="2000" b="1">
              <a:highlight>
                <a:srgbClr val="E4CAD2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4" name="Google Shape;574;p46"/>
          <p:cNvSpPr txBox="1">
            <a:spLocks noGrp="1"/>
          </p:cNvSpPr>
          <p:nvPr>
            <p:ph type="body" idx="4294967295"/>
          </p:nvPr>
        </p:nvSpPr>
        <p:spPr>
          <a:xfrm>
            <a:off x="6761450" y="1112100"/>
            <a:ext cx="15903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 b="1">
                <a:latin typeface="Avenir"/>
                <a:ea typeface="Avenir"/>
                <a:cs typeface="Avenir"/>
                <a:sym typeface="Avenir"/>
              </a:rPr>
              <a:t>Combinar</a:t>
            </a:r>
            <a:endParaRPr sz="2000" b="1">
              <a:highlight>
                <a:srgbClr val="E4CAD2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5" name="Google Shape;575;p46"/>
          <p:cNvSpPr txBox="1">
            <a:spLocks noGrp="1"/>
          </p:cNvSpPr>
          <p:nvPr>
            <p:ph type="body" idx="4294967295"/>
          </p:nvPr>
        </p:nvSpPr>
        <p:spPr>
          <a:xfrm>
            <a:off x="8576075" y="1112100"/>
            <a:ext cx="15903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 b="1">
                <a:latin typeface="Avenir"/>
                <a:ea typeface="Avenir"/>
                <a:cs typeface="Avenir"/>
                <a:sym typeface="Avenir"/>
              </a:rPr>
              <a:t>Adaptar</a:t>
            </a:r>
            <a:endParaRPr sz="2000" b="1">
              <a:highlight>
                <a:srgbClr val="E4CAD2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6" name="Google Shape;576;p46"/>
          <p:cNvSpPr txBox="1">
            <a:spLocks noGrp="1"/>
          </p:cNvSpPr>
          <p:nvPr>
            <p:ph type="body" idx="4294967295"/>
          </p:nvPr>
        </p:nvSpPr>
        <p:spPr>
          <a:xfrm>
            <a:off x="3176775" y="6077900"/>
            <a:ext cx="15903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 b="1">
                <a:latin typeface="Avenir"/>
                <a:ea typeface="Avenir"/>
                <a:cs typeface="Avenir"/>
                <a:sym typeface="Avenir"/>
              </a:rPr>
              <a:t>Modificar</a:t>
            </a:r>
            <a:endParaRPr sz="2000" b="1">
              <a:highlight>
                <a:srgbClr val="E4CAD2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7" name="Google Shape;577;p46"/>
          <p:cNvSpPr txBox="1">
            <a:spLocks noGrp="1"/>
          </p:cNvSpPr>
          <p:nvPr>
            <p:ph type="body" idx="4294967295"/>
          </p:nvPr>
        </p:nvSpPr>
        <p:spPr>
          <a:xfrm>
            <a:off x="4944950" y="6077900"/>
            <a:ext cx="15903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58"/>
              <a:buNone/>
            </a:pPr>
            <a:r>
              <a:rPr lang="es-CL" b="1">
                <a:latin typeface="Avenir"/>
                <a:ea typeface="Avenir"/>
                <a:cs typeface="Avenir"/>
                <a:sym typeface="Avenir"/>
              </a:rPr>
              <a:t>Poner en </a:t>
            </a:r>
            <a:endParaRPr b="1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58"/>
              <a:buNone/>
            </a:pPr>
            <a:r>
              <a:rPr lang="es-CL" b="1">
                <a:latin typeface="Avenir"/>
                <a:ea typeface="Avenir"/>
                <a:cs typeface="Avenir"/>
                <a:sym typeface="Avenir"/>
              </a:rPr>
              <a:t>otro uso</a:t>
            </a:r>
            <a:endParaRPr b="1">
              <a:highlight>
                <a:srgbClr val="E4CAD2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8" name="Google Shape;578;p46"/>
          <p:cNvSpPr txBox="1">
            <a:spLocks noGrp="1"/>
          </p:cNvSpPr>
          <p:nvPr>
            <p:ph type="body" idx="4294967295"/>
          </p:nvPr>
        </p:nvSpPr>
        <p:spPr>
          <a:xfrm>
            <a:off x="6761450" y="6077900"/>
            <a:ext cx="15903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 b="1">
                <a:latin typeface="Avenir"/>
                <a:ea typeface="Avenir"/>
                <a:cs typeface="Avenir"/>
                <a:sym typeface="Avenir"/>
              </a:rPr>
              <a:t>Eliminar</a:t>
            </a:r>
            <a:endParaRPr sz="2000" b="1">
              <a:highlight>
                <a:srgbClr val="E4CAD2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  <p:sp>
        <p:nvSpPr>
          <p:cNvPr id="579" name="Google Shape;579;p46"/>
          <p:cNvSpPr txBox="1">
            <a:spLocks noGrp="1"/>
          </p:cNvSpPr>
          <p:nvPr>
            <p:ph type="body" idx="4294967295"/>
          </p:nvPr>
        </p:nvSpPr>
        <p:spPr>
          <a:xfrm>
            <a:off x="8586975" y="6077900"/>
            <a:ext cx="1590300" cy="41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70000" lnSpcReduction="20000"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000" b="1">
                <a:latin typeface="Avenir"/>
                <a:ea typeface="Avenir"/>
                <a:cs typeface="Avenir"/>
                <a:sym typeface="Avenir"/>
              </a:rPr>
              <a:t>Revertir</a:t>
            </a:r>
            <a:endParaRPr sz="2000" b="1">
              <a:highlight>
                <a:srgbClr val="E4CAD2"/>
              </a:highlight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47"/>
          <p:cNvSpPr txBox="1">
            <a:spLocks noGrp="1"/>
          </p:cNvSpPr>
          <p:nvPr>
            <p:ph type="title"/>
          </p:nvPr>
        </p:nvSpPr>
        <p:spPr>
          <a:xfrm>
            <a:off x="1212530" y="2628902"/>
            <a:ext cx="27933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venir"/>
              <a:buNone/>
            </a:pPr>
            <a:r>
              <a:rPr lang="es-CL" sz="3700" b="1">
                <a:latin typeface="Avenir"/>
                <a:ea typeface="Avenir"/>
                <a:cs typeface="Avenir"/>
                <a:sym typeface="Avenir"/>
              </a:rPr>
              <a:t>SCAMPER</a:t>
            </a:r>
            <a:endParaRPr sz="3700" b="1"/>
          </a:p>
        </p:txBody>
      </p:sp>
      <p:pic>
        <p:nvPicPr>
          <p:cNvPr id="585" name="Google Shape;585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54954" y="901774"/>
            <a:ext cx="2908457" cy="78878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47"/>
          <p:cNvPicPr preferRelativeResize="0"/>
          <p:nvPr/>
        </p:nvPicPr>
        <p:blipFill rotWithShape="1">
          <a:blip r:embed="rId3">
            <a:alphaModFix/>
          </a:blip>
          <a:srcRect r="73736"/>
          <a:stretch/>
        </p:blipFill>
        <p:spPr>
          <a:xfrm>
            <a:off x="10464087" y="497125"/>
            <a:ext cx="625451" cy="6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47"/>
          <p:cNvSpPr txBox="1">
            <a:spLocks noGrp="1"/>
          </p:cNvSpPr>
          <p:nvPr>
            <p:ph type="body" idx="1"/>
          </p:nvPr>
        </p:nvSpPr>
        <p:spPr>
          <a:xfrm>
            <a:off x="5284775" y="758025"/>
            <a:ext cx="6545700" cy="55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3894" b="1" u="sng">
                <a:latin typeface="Avenir"/>
                <a:ea typeface="Avenir"/>
                <a:cs typeface="Avenir"/>
                <a:sym typeface="Avenir"/>
              </a:rPr>
              <a:t>INSTRUCCIONES</a:t>
            </a:r>
            <a:endParaRPr sz="3894" b="1" u="sng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A continuación les presentamos la herramienta SCAMPER, para completarla: 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457200" lvl="0" indent="-341788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venir"/>
              <a:buAutoNum type="arabicPeriod"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Conversen acerca del desafío planteado en relación a la convocatoria.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457200" lvl="0" indent="-34178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venir"/>
              <a:buAutoNum type="arabicPeriod"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En la primera columna, </a:t>
            </a:r>
            <a:r>
              <a:rPr lang="es-CL" sz="2300">
                <a:highlight>
                  <a:srgbClr val="E4CAD2"/>
                </a:highlight>
                <a:latin typeface="Avenir"/>
                <a:ea typeface="Avenir"/>
                <a:cs typeface="Avenir"/>
                <a:sym typeface="Avenir"/>
              </a:rPr>
              <a:t>escriban 3 soluciones </a:t>
            </a: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que actualmente hayan realizado para abordar dicho desafío.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457200" lvl="0" indent="-341788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venir"/>
              <a:buAutoNum type="arabicPeriod"/>
            </a:pPr>
            <a:r>
              <a:rPr lang="es-CL" sz="2300">
                <a:latin typeface="Avenir"/>
                <a:ea typeface="Avenir"/>
                <a:cs typeface="Avenir"/>
                <a:sym typeface="Avenir"/>
              </a:rPr>
              <a:t>A continuación trabajen por fila con cada solución, según la indicación de la letra superior.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300" i="1">
                <a:latin typeface="Avenir"/>
                <a:ea typeface="Avenir"/>
                <a:cs typeface="Avenir"/>
                <a:sym typeface="Avenir"/>
              </a:rPr>
              <a:t>Ejemplo:</a:t>
            </a:r>
            <a:endParaRPr sz="2300" i="1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300" i="1">
                <a:latin typeface="Avenir"/>
                <a:ea typeface="Avenir"/>
                <a:cs typeface="Avenir"/>
                <a:sym typeface="Avenir"/>
              </a:rPr>
              <a:t>Solución 1: Generar convocatoria mediante redes sociales.</a:t>
            </a:r>
            <a:endParaRPr sz="2300" i="1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s-CL" sz="2300" i="1">
                <a:latin typeface="Avenir"/>
                <a:ea typeface="Avenir"/>
                <a:cs typeface="Avenir"/>
                <a:sym typeface="Avenir"/>
              </a:rPr>
              <a:t>SUBSTITUIR: Sustituir publicaciones genéricas por contenido interactivo (ej. encuestas, quizzes, reels con testimonios de otras personas de la organización).</a:t>
            </a:r>
            <a:endParaRPr sz="2300">
              <a:latin typeface="Avenir"/>
              <a:ea typeface="Avenir"/>
              <a:cs typeface="Avenir"/>
              <a:sym typeface="Avenir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300">
              <a:latin typeface="Avenir"/>
              <a:ea typeface="Avenir"/>
              <a:cs typeface="Avenir"/>
              <a:sym typeface="Avenir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Google Shape;592;p48"/>
          <p:cNvPicPr preferRelativeResize="0"/>
          <p:nvPr/>
        </p:nvPicPr>
        <p:blipFill rotWithShape="1">
          <a:blip r:embed="rId3">
            <a:alphaModFix/>
          </a:blip>
          <a:srcRect r="73736"/>
          <a:stretch/>
        </p:blipFill>
        <p:spPr>
          <a:xfrm>
            <a:off x="10437812" y="497125"/>
            <a:ext cx="625451" cy="6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8"/>
          <p:cNvSpPr txBox="1"/>
          <p:nvPr/>
        </p:nvSpPr>
        <p:spPr>
          <a:xfrm>
            <a:off x="526978" y="297075"/>
            <a:ext cx="9755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E4CAD2"/>
                </a:highlight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EJEMPLO SCAMPER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E4CAD2"/>
              </a:highlight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594" name="Google Shape;594;p48"/>
          <p:cNvGraphicFramePr/>
          <p:nvPr/>
        </p:nvGraphicFramePr>
        <p:xfrm>
          <a:off x="867300" y="1318100"/>
          <a:ext cx="10287000" cy="521199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91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Solución inicial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Substituir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Combinar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Adaptar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Modificar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Darle otro uso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Eliminar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Revertir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09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Reemplazar una pieza, material o proceso por otra cosa.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Unir elementos, ideas o funciones de nuevas maneras, o encontrar un nuevo elemento con el que fusionarse.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Modificar algo para que se adapte mejor a un nuevo propósito, persona o contexto.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Agrandar, reducir, cambiar la forma o alterar atributos. ¿Puede un pequeño cambio tener un gran efecto?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 lugar de cambiar la cosa en sí, considera cambiar el contexto en el que existe.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Eliminar elementos, simplificar o reducir a lo esencial. ¿Menos es más?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Dar la vuelta a la situación, reordenar las prioridades, invertir la causa y el efecto, y ponerlo todo patas arriba.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3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i="1">
                          <a:solidFill>
                            <a:srgbClr val="B31166"/>
                          </a:solidFill>
                          <a:highlight>
                            <a:srgbClr val="FFFFFF"/>
                          </a:highlight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Generar convocatoria mediante redes sociales</a:t>
                      </a:r>
                      <a:endParaRPr sz="1100" i="1">
                        <a:solidFill>
                          <a:srgbClr val="B31166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i="1">
                          <a:solidFill>
                            <a:srgbClr val="B31166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Sustituir publicaciones genéricas por contenido interactivo (ej. encuestas, quizzes, reels con testimonios de miembros).</a:t>
                      </a:r>
                      <a:endParaRPr sz="1100" i="1">
                        <a:solidFill>
                          <a:srgbClr val="B31166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i="1">
                          <a:solidFill>
                            <a:srgbClr val="B31166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Unir redes sociales + eventos presenciales:</a:t>
                      </a:r>
                      <a:endParaRPr sz="1100" i="1">
                        <a:solidFill>
                          <a:srgbClr val="B31166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>
                        <a:solidFill>
                          <a:srgbClr val="B31166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i="1">
                          <a:solidFill>
                            <a:srgbClr val="B31166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"Postea tu selfie en nuestro stand y participa en un sorteo".</a:t>
                      </a:r>
                      <a:endParaRPr sz="1100" i="1">
                        <a:solidFill>
                          <a:srgbClr val="B31166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i="1">
                          <a:solidFill>
                            <a:srgbClr val="B31166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Copiar formatos virales (un día en la vida de una voluntaria de la organización)</a:t>
                      </a:r>
                      <a:endParaRPr sz="1100" i="1">
                        <a:solidFill>
                          <a:srgbClr val="B31166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i="1">
                          <a:solidFill>
                            <a:srgbClr val="B31166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Hacer llamados urgentes:</a:t>
                      </a:r>
                      <a:endParaRPr sz="1100" i="1">
                        <a:solidFill>
                          <a:srgbClr val="B31166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100" i="1">
                        <a:solidFill>
                          <a:srgbClr val="B31166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i="1">
                          <a:solidFill>
                            <a:srgbClr val="B31166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"¡Solo hoy! Postulación express con un 50% menos de requisitos".</a:t>
                      </a:r>
                      <a:endParaRPr sz="1100" i="1">
                        <a:solidFill>
                          <a:srgbClr val="B31166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i="1">
                          <a:solidFill>
                            <a:srgbClr val="B31166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Crear un hashtag propio (#ÚneteA[NombreOrganización]) para que los miembros compartan su experiencia.</a:t>
                      </a:r>
                      <a:endParaRPr sz="1100" i="1">
                        <a:solidFill>
                          <a:srgbClr val="B31166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i="1">
                          <a:solidFill>
                            <a:srgbClr val="B31166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Eliminar burocracia: Formularios largos → link en bio con Google Form de 3 preguntas.</a:t>
                      </a:r>
                      <a:endParaRPr sz="1100" i="1">
                        <a:solidFill>
                          <a:srgbClr val="B31166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1100" i="1">
                          <a:solidFill>
                            <a:srgbClr val="B31166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Invertir el orden: En vez de "postular → entrevista", hacer "evento vivencial → postulación"</a:t>
                      </a:r>
                      <a:endParaRPr sz="1100" i="1">
                        <a:solidFill>
                          <a:srgbClr val="B31166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9" name="Google Shape;599;p49"/>
          <p:cNvPicPr preferRelativeResize="0"/>
          <p:nvPr/>
        </p:nvPicPr>
        <p:blipFill rotWithShape="1">
          <a:blip r:embed="rId3">
            <a:alphaModFix/>
          </a:blip>
          <a:srcRect r="73736"/>
          <a:stretch/>
        </p:blipFill>
        <p:spPr>
          <a:xfrm>
            <a:off x="10437812" y="497125"/>
            <a:ext cx="625451" cy="645875"/>
          </a:xfrm>
          <a:prstGeom prst="rect">
            <a:avLst/>
          </a:prstGeom>
          <a:noFill/>
          <a:ln>
            <a:noFill/>
          </a:ln>
        </p:spPr>
      </p:pic>
      <p:sp>
        <p:nvSpPr>
          <p:cNvPr id="600" name="Google Shape;600;p49"/>
          <p:cNvSpPr txBox="1"/>
          <p:nvPr/>
        </p:nvSpPr>
        <p:spPr>
          <a:xfrm>
            <a:off x="498578" y="189013"/>
            <a:ext cx="97557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Ahora ustedes… </a:t>
            </a:r>
            <a:r>
              <a:rPr kumimoji="0" lang="es-CL" sz="20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E4CAD2"/>
                </a:highlight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SCAMPER</a:t>
            </a:r>
            <a:endParaRPr kumimoji="0" sz="2000" b="1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highlight>
                <a:srgbClr val="E4CAD2"/>
              </a:highlight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CL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Desafío: ¿De qué manera podemos </a:t>
            </a:r>
            <a:r>
              <a:rPr kumimoji="0" lang="es-CL" sz="18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mejorar nuestras convocatorias </a:t>
            </a:r>
            <a:r>
              <a:rPr kumimoji="0" lang="es-CL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/>
                <a:ea typeface="Century Gothic"/>
                <a:cs typeface="Century Gothic"/>
                <a:sym typeface="Century Gothic"/>
              </a:rPr>
              <a:t>para que se integren más personas a la organización?</a:t>
            </a: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graphicFrame>
        <p:nvGraphicFramePr>
          <p:cNvPr id="601" name="Google Shape;601;p49"/>
          <p:cNvGraphicFramePr/>
          <p:nvPr/>
        </p:nvGraphicFramePr>
        <p:xfrm>
          <a:off x="952500" y="1531100"/>
          <a:ext cx="10287000" cy="454137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28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858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Solución inicial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Substituir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Combinar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Adaptar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Modificar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Darle otro uso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Eliminar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b="1">
                          <a:solidFill>
                            <a:schemeClr val="lt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Revertir</a:t>
                      </a:r>
                      <a:endParaRPr b="1">
                        <a:solidFill>
                          <a:schemeClr val="lt1"/>
                        </a:solidFill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 anchor="ctr">
                    <a:solidFill>
                      <a:srgbClr val="B311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Reemplazar una pieza, material o proceso por otra cosa.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Unir elementos, ideas o funciones de nuevas maneras, o encontrar un nuevo elemento con el que fusionarse.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Modificar algo para que se adapte mejor a un nuevo propósito, persona o contexto.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Agrandar, reducir, cambiar la forma o alterar atributos. ¿Puede un pequeño cambio tener un gran efecto?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En lugar de cambiar la cosa en sí, considera cambiar el contexto en el que existe.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Eliminar elementos, simplificar o reducir a lo esencial. ¿Menos es más?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Dar la vuelta a la situación, reordenar las prioridades, invertir la causa y el efecto, y ponerlo todo patas arriba.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Solución 1.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Solución </a:t>
                      </a: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2. 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>
                          <a:solidFill>
                            <a:schemeClr val="dk1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Solución </a:t>
                      </a:r>
                      <a:r>
                        <a:rPr lang="es-CL"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3. </a:t>
                      </a: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Century Gothic"/>
                        <a:ea typeface="Century Gothic"/>
                        <a:cs typeface="Century Gothic"/>
                        <a:sym typeface="Century Gothic"/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ala de reuniones Ion">
  <a:themeElements>
    <a:clrScheme name="Sala de reuniones Ion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Sala de reuniones Ion">
  <a:themeElements>
    <a:clrScheme name="Sala de reuniones Ion">
      <a:dk1>
        <a:srgbClr val="000000"/>
      </a:dk1>
      <a:lt1>
        <a:srgbClr val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755</Words>
  <Application>Microsoft Office PowerPoint</Application>
  <PresentationFormat>Panorámica</PresentationFormat>
  <Paragraphs>84</Paragraphs>
  <Slides>7</Slides>
  <Notes>7</Notes>
  <HiddenSlides>1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Aptos</vt:lpstr>
      <vt:lpstr>Arial</vt:lpstr>
      <vt:lpstr>Avenir</vt:lpstr>
      <vt:lpstr>Century Gothic</vt:lpstr>
      <vt:lpstr>Noto Sans Symbols</vt:lpstr>
      <vt:lpstr>Sala de reuniones Ion</vt:lpstr>
      <vt:lpstr>1_Sala de reuniones Ion</vt:lpstr>
      <vt:lpstr>SCAMPER</vt:lpstr>
      <vt:lpstr>¿Qué es el SCAMPER?</vt:lpstr>
      <vt:lpstr>Presentación de PowerPoint</vt:lpstr>
      <vt:lpstr>Presentación de PowerPoint</vt:lpstr>
      <vt:lpstr>SCAMPER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Cardenas</dc:creator>
  <cp:lastModifiedBy>Felipe Cardenas</cp:lastModifiedBy>
  <cp:revision>2</cp:revision>
  <dcterms:created xsi:type="dcterms:W3CDTF">2025-11-14T19:30:35Z</dcterms:created>
  <dcterms:modified xsi:type="dcterms:W3CDTF">2025-11-14T19:31:52Z</dcterms:modified>
</cp:coreProperties>
</file>